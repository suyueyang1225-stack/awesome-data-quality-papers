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65" r:id="rId14"/>
    <p:sldId id="266" r:id="rId15"/>
    <p:sldId id="267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2" userDrawn="1">
          <p15:clr>
            <a:srgbClr val="A4A3A4"/>
          </p15:clr>
        </p15:guide>
        <p15:guide id="2" pos="28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22"/>
        <p:guide pos="289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大家好，今天由我来汇报一篇 ICLR 2026 的论文——Scaling Laws Revisited。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这篇论文来自芝加哥大学的 Subramanyam、Chen 和 Grossman 团队。题目里的关键词是"Data Quality"——它要回答的问题是：能不能把数据质量写进 Scaling Law 里？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这篇论文发表在 ICLR 2026，代码暂时没有公开。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要点：① 论文标题与作者 ② ICLR 2026 发表 ③ 核心问题：数据质量 + Scaling Law</a:t>
            </a:r>
            <a:endParaRPr lang="zh-CN" dirty="0"/>
          </a:p>
          <a:p>
            <a:r>
              <a:rPr lang="zh-CN" dirty="0"/>
              <a:t>时长：1 分钟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先回顾一下什么是 Scaling Law。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经典 Chinchilla 公式——Hoffmann 等人在 2022 年通过 400 多次实验总结出来的规律——告诉我们预训练损失可以写成模型参数量 N 和数据量 D 的函数。这个公式很漂亮，也很好用，但它有一个隐含假设：所有训练 Token 的价值是一样的。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</a:t>
            </a:r>
            <a:endParaRPr lang="zh-CN" dirty="0"/>
          </a:p>
          <a:p>
            <a:endParaRPr lang="zh-CN" dirty="0"/>
          </a:p>
          <a:p>
            <a:r>
              <a:rPr lang="zh-CN" dirty="0"/>
              <a:t>但我们都知道，真实数据不是这样的。网络爬下来的文本，有的质量极高，有的全是噪声。工业界早就在做数据清洗了——FineWeb、Dolma 这些数据集都是大量过滤的产物。但理论上，Scaling Law 里没有为"质量"留一个位置。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这就是这篇论文的出发点。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要点：① Chinchilla 公式回顾 ② "所有 Token 等价"的假设 ③ 真实数据质量参差不齐 ④ 引出问题</a:t>
            </a:r>
            <a:endParaRPr lang="zh-CN" dirty="0"/>
          </a:p>
          <a:p>
            <a:r>
              <a:rPr lang="zh-CN" dirty="0"/>
              <a:t>时长：1.5 分钟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我们来看看学术界在数据质量方面做了什么。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实际上已经有不少工作了——Bansal 研究 NMT 中噪声的影响，Goyal 证明数据过滤不能脱离计算量讨论，Chang 探索多样性和合成数据的关系，Chen 用聚类密度定义质量。但这些工作都是碎片化的——没有一个统一的框架把数据质量直接写进 Scaling Law。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所以这篇论文提出的 Gap 很清楚：能不能把"数据质量"当作一个显式变量 Q，直接嵌入到 Chinchilla 公式里？如果能做到，数据清洗的价值就可以被精确计算。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要点：① 已有工作的碎片化 ② 核心 Gap：缺少统一质量感知定律 ③ 论文的核心问题</a:t>
            </a:r>
            <a:endParaRPr lang="zh-CN" dirty="0"/>
          </a:p>
          <a:p>
            <a:r>
              <a:rPr lang="zh-CN" dirty="0"/>
              <a:t>时长：1.5 分钟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这是论文的第一个核心贡献——引入 Q 参数。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Q 的范围是 0 到 1，Q 等于 1 表示完美数据，Q 趋近于 0 表示完全无用。论文给了两种定义方式。第一种很简单：Q 等于 1 减去污染率。第二种更通用：用数据缺陷 Δ 的指数来定义 Q。Δ 可以拆分成四部分——噪声、覆盖度不足、重复、合成数据。这意味着不同类型的质量问题可以统一映射到同一个 Q 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这里要强调一点：Q 不是拍脑袋定的，而是有数学性质的——平滑退化、单调递减、可扩展。后面会看到，这个定义的威力在于它可以推导出整个 Scaling Law。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要点：① Q ∈ (0,1] 的定义 ② 两种定义方式 ③ Δ 的加性分解 ④ Q 的数学性质</a:t>
            </a:r>
            <a:endParaRPr lang="zh-CN" dirty="0"/>
          </a:p>
          <a:p>
            <a:r>
              <a:rPr lang="zh-CN" dirty="0"/>
              <a:t>时长：1.5 分钟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有了 Q 参数之后，论文提出了质量感知 Scaling Law。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这个公式和 Chinchilla 的唯一区别，就是在分母 D^β 后面乘了一个 Q^γ。就这么一个改动，就让 Scaling Law 从二维变成了三维——N、D、Q 三个变量共同决定损失。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这个形式有一个很直观的解读：D_eff = D·Q^γ。意思就是，数据质量的降级等价于有效样本量按 Q^γ 倍缩减。γ 在这里是一个关键参数——γ 越大，说明任务对质量越敏感；γ 越小，说明任务对噪声越鲁棒。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要点：① 质量感知 Scaling Law 公式 ② 与 Chinchilla 的对比 ③ D_eff 的直观解读 ④ γ 的含义</a:t>
            </a:r>
            <a:endParaRPr lang="zh-CN" dirty="0"/>
          </a:p>
          <a:p>
            <a:r>
              <a:rPr lang="zh-CN" dirty="0"/>
              <a:t>时长：1.5 分钟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这个公式不是凭空猜出来的——论文从两个角度做了严格推导。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第一个角度是 Fisher 信息量。如果每个样本的观测噪声方差是 σ²，那么每个样本给我们的信息量就是 1/σ²。D 个样本就是 D/σ²。所以噪声越大，有效样本越少——这就是 D_eff 的来源。对于高斯噪声，理论预测 γ=1。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第二个角度是标签翻转噪声。如果标签有概率 η 被翻转，修正后的损失函数方差会放大 (1-2η)² 倍，导致有效样本缩减到 D·(1-2η)²。在接近 Q=1 时，这近似于 Q 的 2 次方，即 γ≈2。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最后命题 1 用互信息和信息瓶颈统一了这两个视角，从噪声信道容量推导出了完整的质量感知 Scaling Law。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要点：① Fisher 信息量推导 ② 标签噪声推导 ③ 互信息统一视角 ④ 理论预测 γ ≥ 1</a:t>
            </a:r>
            <a:endParaRPr lang="zh-CN" dirty="0"/>
          </a:p>
          <a:p>
            <a:r>
              <a:rPr lang="zh-CN" dirty="0"/>
              <a:t>时长：2 分钟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理论说 γ 应该 ≥ 1，但实际上呢？论文设计了一套大规模的受控实验。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两个任务——机器翻译和因果语言建模。每个任务 7 种质量水平，从 Q=1.0 完美数据到 Q=0.5 一半噪声。三种数据规模，三次独立复现。总共 126 次独立训练运行。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</a:t>
            </a:r>
            <a:endParaRPr lang="zh-CN" dirty="0"/>
          </a:p>
          <a:p>
            <a:endParaRPr lang="zh-CN" dirty="0"/>
          </a:p>
          <a:p>
            <a:r>
              <a:rPr lang="zh-CN" dirty="0"/>
              <a:t>噪声怎么注入的？NMT 任务是在目标句里用 pad token 替换 50% 的 token，CLM 任务是在序列中用随机词汇替换 15% 的 token。嵌套子集策略保证不同规模数据的分布一致性。这些细节确保了实验结果是可信的。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要点：① 两个任务 + 模型配置 ② 7 个质量水平 ③ 126 次运行 ④ 噪声注入方式</a:t>
            </a:r>
            <a:endParaRPr lang="zh-CN" dirty="0"/>
          </a:p>
          <a:p>
            <a:r>
              <a:rPr lang="zh-CN" dirty="0"/>
              <a:t>时长：1.5 分钟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现在来看最重要的结果。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参数估计表显示——NMT 的 γ 是 0.17，CLM 的 γ 是 0.40。两个都远小于理论预测的 1 或者 2。这是什么概念？如果 γ=1，50% 噪声会让有效数据减半；但如果 γ=0.17，50% 噪声只损失大约 10% 的有效数据。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这个差距非常显著——模型对数据噪声的鲁棒性远超理论预期。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要点：① 实测 γ ≪ 理论 γ ② NMT 0.17 vs CLM 0.40 ③ 鲁棒性远超预期</a:t>
            </a:r>
            <a:endParaRPr lang="zh-CN" dirty="0"/>
          </a:p>
          <a:p>
            <a:r>
              <a:rPr lang="zh-CN" dirty="0"/>
              <a:t>时长：1.5 分钟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γ 远小于 1，这是一个非常有趣的发现。为什么会这样？</a:t>
            </a:r>
            <a:endParaRPr lang="zh-CN" dirty="0"/>
          </a:p>
          <a:p>
            <a:endParaRPr lang="zh-CN" dirty="0"/>
          </a:p>
          <a:p>
            <a:r>
              <a:rPr lang="zh-CN" dirty="0"/>
              <a:t>论文的解释是：自然语言有天然的冗余性。即使部分 token 被损坏了，语法结构、词序、共现模式仍然在传递信息。换句话说，模型可以从"缝隙"中学习。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</a:t>
            </a:r>
            <a:endParaRPr lang="zh-CN" dirty="0"/>
          </a:p>
          <a:p>
            <a:endParaRPr lang="zh-CN" dirty="0"/>
          </a:p>
          <a:p>
            <a:r>
              <a:rPr lang="zh-CN" dirty="0"/>
              <a:t>NMT 比 CLM 更鲁棒也是这个道理——翻译任务里，源句和目标句之间的跨语言对齐信息可以"绕开"目标端噪声。而 CLM 里噪声 token 直接破坏了条件分布，所以 γ 更高。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实践意义很直接：你不需要把数据洗到完美。轻度噪声几乎是免费的。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要点：① 语言冗余性是天然保护 ② NMT vs CLM 差异原因 ③ 实践意义</a:t>
            </a:r>
            <a:endParaRPr lang="zh-CN" dirty="0"/>
          </a:p>
          <a:p>
            <a:r>
              <a:rPr lang="zh-CN" dirty="0"/>
              <a:t>时长：1.5 分钟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总结一下这篇论文的三个核心贡献。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第一，理论统一。这是第一个把数据质量写进 Chinchilla 框架的工作，Fisher 信息量和互信息两种视角互相印证。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第二，实验验证。126 次受控实验系统性地证明了质量感知 Scaling Law 的预测力——包括在未见过数据上的泛化。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第三，实践指导。有了 Q 参数，数据清洗的投入产出比就可以被精确计算。iso-loss 等高线告诉你"提升多少 Q 等于增加多少 D"。这对医疗、科学这些数据昂贵的领域特别有价值。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</a:t>
            </a:r>
            <a:endParaRPr lang="zh-CN" dirty="0"/>
          </a:p>
          <a:p>
            <a:endParaRPr lang="zh-CN" dirty="0"/>
          </a:p>
          <a:p>
            <a:r>
              <a:rPr lang="zh-CN" dirty="0"/>
              <a:t>本质上，这篇论文把"数据质量"从一个模糊的工程概念变成了一个可量化、可预测的数学对象。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要点：① 理论统一 ② 实验验证 ③ 实践指导 ④ 质量从模糊变成数学</a:t>
            </a:r>
            <a:endParaRPr lang="zh-CN" dirty="0"/>
          </a:p>
          <a:p>
            <a:r>
              <a:rPr lang="zh-CN" dirty="0"/>
              <a:t>时长：1.5 分钟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总结一下这篇论文的三个核心贡献。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第一，理论统一。这是第一个把数据质量写进 Chinchilla 框架的工作，Fisher 信息量和互信息两种视角互相印证。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第二，实验验证。126 次受控实验系统性地证明了质量感知 Scaling Law 的预测力——包括在未见过数据上的泛化。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第三，实践指导。有了 Q 参数，数据清洗的投入产出比就可以被精确计算。iso-loss 等高线告诉你"提升多少 Q 等于增加多少 D"。这对医疗、科学这些数据昂贵的领域特别有价值。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</a:t>
            </a:r>
            <a:endParaRPr lang="zh-CN" dirty="0"/>
          </a:p>
          <a:p>
            <a:endParaRPr lang="zh-CN" dirty="0"/>
          </a:p>
          <a:p>
            <a:r>
              <a:rPr lang="zh-CN" dirty="0"/>
              <a:t>本质上，这篇论文把"数据质量"从一个模糊的工程概念变成了一个可量化、可预测的数学对象。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要点：① 理论统一 ② 实验验证 ③ 实践指导 ④ 质量从模糊变成数学</a:t>
            </a:r>
            <a:endParaRPr lang="zh-CN" dirty="0"/>
          </a:p>
          <a:p>
            <a:r>
              <a:rPr lang="zh-CN" dirty="0"/>
              <a:t>时长：1.5 分钟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最后聊聊这篇论文跟我们的研究方向有什么关系。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我的方向是用部分数据预测模型在全量数据上的表现，来评估数据集质量。这篇论文提供了非常直接的启发。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第一，L(N,D,Q) 这个公式天然支持小规模拟合到大范围预测——这正是我们做"部分→全量"外推的数学基础。第二，Q 参数可以直接作为数据集质量的量化标签：在子集上拟合出 Q，外推到全量，预测全量训练效果。第三，γ 的大小决定了外推的可靠程度——γ 越小，小样本预测越稳，这对我们选择需要多少部分数据去外推有指导作用。第四，这篇论文受控噪声加 Scaling Law 拟合的实验设计，可以直接复用到我们构建质量评估基准上。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[停顿]</a:t>
            </a:r>
            <a:endParaRPr lang="zh-CN" dirty="0"/>
          </a:p>
          <a:p>
            <a:endParaRPr lang="zh-CN" dirty="0"/>
          </a:p>
          <a:p>
            <a:r>
              <a:rPr lang="zh-CN" dirty="0"/>
              <a:t>本质上，这篇论文提供了缺失的一环：把质量显式建模，让外推从经验"猜"变成了可计算的事。当然还有待解决的问题——部分数据拟合的 γ 是否稳定？合成噪声的 Q 和真实数据的 Q 怎么映射？这些正是我们可以深入做的地方。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要点：① 四个收获连接研究方向 ② L(N,D,Q)作为外推工具 ③ Q 作为质量标签 ④ 待解决问题</a:t>
            </a:r>
            <a:endParaRPr lang="zh-CN" dirty="0"/>
          </a:p>
          <a:p>
            <a:r>
              <a:rPr lang="zh-CN" dirty="0"/>
              <a:t>时长：1.5 分钟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谢谢大家！以上就是这篇论文的核心内容。如果有什么问题，欢迎一起讨论。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要点：① 感谢 ② Q&amp;A ③ 论文链接</a:t>
            </a:r>
            <a:endParaRPr lang="zh-CN" dirty="0"/>
          </a:p>
          <a:p>
            <a:r>
              <a:rPr lang="zh-CN" dirty="0"/>
              <a:t>时长：0.5 分钟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2563EB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763000" y="-285750"/>
            <a:ext cx="3429000" cy="3429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438150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763000" y="4953000"/>
            <a:ext cx="1524000" cy="152400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284219" y="1704975"/>
            <a:ext cx="5478780" cy="12769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4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论文分享</a:t>
            </a:r>
            <a:endParaRPr lang="zh-CN" sz="440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ctr"/>
            <a:r>
              <a:rPr lang="zh-CN" sz="39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Scaling Laws Revisited</a:t>
            </a:r>
            <a:endParaRPr lang="zh-CN" sz="390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31206" y="3139440"/>
            <a:ext cx="812958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Modeling the Role of Data Quality in Language Model Pretraining</a:t>
            </a:r>
            <a:endParaRPr lang="zh-CN" sz="1800" dirty="0">
              <a:solidFill>
                <a:srgbClr val="E8F0FE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1" name="Line 11"/>
          <p:cNvSpPr/>
          <p:nvPr/>
        </p:nvSpPr>
        <p:spPr>
          <a:xfrm>
            <a:off x="3810000" y="37147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FFFFFF">
                <a:alpha val="40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6286500" y="37147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FFFFFF">
                <a:alpha val="40000"/>
              </a:srgbClr>
            </a:solidFill>
          </a:ln>
        </p:spPr>
      </p:sp>
      <p:sp>
        <p:nvSpPr>
          <p:cNvPr id="13" name="Ellipse 13"/>
          <p:cNvSpPr/>
          <p:nvPr/>
        </p:nvSpPr>
        <p:spPr>
          <a:xfrm>
            <a:off x="6038850" y="3657600"/>
            <a:ext cx="114300" cy="1143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238500" y="4095750"/>
            <a:ext cx="5715000" cy="104775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>
            <a:outerShdw blurRad="152400" dist="38100" dir="10799140" algn="tl" rotWithShape="0">
              <a:srgbClr val="000000">
                <a:alpha val="15000"/>
              </a:srgbClr>
            </a:outerShdw>
          </a:effectLst>
        </p:spPr>
      </p:sp>
      <p:sp>
        <p:nvSpPr>
          <p:cNvPr id="15" name="TextBox 15"/>
          <p:cNvSpPr txBox="1"/>
          <p:nvPr/>
        </p:nvSpPr>
        <p:spPr>
          <a:xfrm>
            <a:off x="4373642" y="4295775"/>
            <a:ext cx="34447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Subramanyam · Chen · Grossman</a:t>
            </a:r>
            <a:endParaRPr lang="zh-CN" sz="1500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687443" y="4632960"/>
            <a:ext cx="28171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University of Chicago · ICLR 2026</a:t>
            </a:r>
            <a:endParaRPr lang="zh-CN" sz="1200" dirty="0">
              <a:solidFill>
                <a:srgbClr val="E8F0FE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510463" y="4923949"/>
            <a:ext cx="11710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 val="7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arXiv:2510.03313</a:t>
            </a:r>
            <a:endParaRPr lang="zh-CN" sz="975" dirty="0">
              <a:solidFill>
                <a:srgbClr val="FFFFFF">
                  <a:alpha val="70000"/>
                </a:srgbClr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68618" y="6543199"/>
            <a:ext cx="74676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 val="6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周会论文</a:t>
            </a:r>
            <a:r>
              <a:rPr lang="zh-CN" sz="975" dirty="0">
                <a:solidFill>
                  <a:srgbClr val="FFFFFF">
                    <a:alpha val="6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分享</a:t>
            </a:r>
            <a:endParaRPr lang="zh-CN" sz="975" dirty="0">
              <a:solidFill>
                <a:srgbClr val="FFFFFF">
                  <a:alpha val="60000"/>
                </a:srgbClr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250382" y="6543199"/>
            <a:ext cx="573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FFFFF">
                    <a:alpha val="6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2026.07</a:t>
            </a:r>
            <a:endParaRPr lang="zh-CN" sz="975" dirty="0">
              <a:solidFill>
                <a:srgbClr val="FFFFFF">
                  <a:alpha val="60000"/>
                </a:srgbClr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81953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背景：大模型训练的 Scaling Law</a:t>
            </a:r>
            <a:endParaRPr lang="zh-CN" sz="210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10477500" y="190500"/>
            <a:ext cx="1333500" cy="285750"/>
          </a:xfrm>
          <a:prstGeom prst="rect">
            <a:avLst/>
          </a:prstGeom>
          <a:noFill/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63855" y="825818"/>
            <a:ext cx="771525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Chinchilla </a:t>
            </a:r>
            <a:r>
              <a:rPr lang="en-US" altLang="zh-CN" sz="13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scaling </a:t>
            </a:r>
            <a:r>
              <a:rPr lang="zh-CN" sz="13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Law 揭示了模型规模 N 与数据量 D 的最优比例——但所有 Token 真的价值相同吗？</a:t>
            </a:r>
            <a:endParaRPr lang="zh-CN" sz="135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381000" y="1398905"/>
            <a:ext cx="5334000" cy="45205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4" name="Rectangle 14"/>
          <p:cNvSpPr/>
          <p:nvPr/>
        </p:nvSpPr>
        <p:spPr>
          <a:xfrm>
            <a:off x="381000" y="1333500"/>
            <a:ext cx="5334000" cy="66675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56348" y="1517332"/>
            <a:ext cx="3583305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经典的 Chinchilla Scaling Law</a:t>
            </a:r>
            <a:endParaRPr lang="zh-CN" sz="20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7" name="Line 17"/>
          <p:cNvSpPr/>
          <p:nvPr/>
        </p:nvSpPr>
        <p:spPr>
          <a:xfrm>
            <a:off x="762000" y="299339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50558" y="2976404"/>
            <a:ext cx="2670810" cy="1969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</a:t>
            </a:r>
            <a:r>
              <a:rPr lang="en-US" alt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L = </a:t>
            </a:r>
            <a:r>
              <a:rPr lang="zh-CN" altLang="en-US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预训练损失</a:t>
            </a:r>
            <a:endParaRPr lang="zh-CN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  <a:sym typeface="+mn-ea"/>
            </a:endParaRPr>
          </a:p>
          <a:p>
            <a:pPr algn="l">
              <a:lnSpc>
                <a:spcPct val="200000"/>
              </a:lnSpc>
            </a:pPr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N = 模型参数量</a:t>
            </a:r>
            <a:endParaRPr lang="zh-CN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200000"/>
              </a:lnSpc>
            </a:pPr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D = 训练 Token 数量</a:t>
            </a:r>
            <a:endParaRPr lang="zh-CN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  <a:sym typeface="+mn-ea"/>
            </a:endParaRPr>
          </a:p>
          <a:p>
            <a:pPr algn="l">
              <a:lnSpc>
                <a:spcPct val="200000"/>
              </a:lnSpc>
            </a:pPr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A, B, E, α, β = 经验拟合常数</a:t>
            </a:r>
            <a:endParaRPr lang="zh-CN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  <a:sym typeface="+mn-ea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52462" y="5240496"/>
            <a:ext cx="3319145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i="1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核心假设：所有训练 Token 价值等价</a:t>
            </a:r>
            <a:endParaRPr lang="zh-CN" sz="1600" i="1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6096000" y="1387475"/>
            <a:ext cx="5715000" cy="453263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096000" y="1333500"/>
            <a:ext cx="57150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715613" y="1609725"/>
            <a:ext cx="475774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dirty="0">
                <a:solidFill>
                  <a:srgbClr val="CC0000"/>
                </a:solidFill>
                <a:latin typeface="Arial" panose="020B0704020202020204"/>
                <a:ea typeface="微软雅黑"/>
                <a:cs typeface="Arial" panose="020B0704020202020204"/>
              </a:rPr>
              <a:t>?</a:t>
            </a:r>
            <a:endParaRPr lang="zh-CN" sz="4500" dirty="0">
              <a:solidFill>
                <a:srgbClr val="CC0000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680325" y="2488882"/>
            <a:ext cx="25463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这个假设真的成立吗？</a:t>
            </a:r>
            <a:endParaRPr lang="zh-CN" sz="2000" b="1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366510" y="2870200"/>
            <a:ext cx="4225925" cy="215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真实训练数据中：</a:t>
            </a:r>
            <a:endParaRPr lang="zh-CN" sz="160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• 网络爬取文本充满格式混乱和低质内容</a:t>
            </a:r>
            <a:endParaRPr lang="zh-CN" sz="160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去重、过滤、质量评分——都是工业界标配</a:t>
            </a:r>
            <a:endParaRPr lang="zh-CN" sz="160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FineWeb、Dolma 等数据集投入大量清洗工作</a:t>
            </a:r>
            <a:endParaRPr lang="zh-CN" sz="160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但 Scaling Law 里没有"质量"这一项！</a:t>
            </a:r>
            <a:endParaRPr lang="zh-CN" sz="160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  <a:sym typeface="+mn-ea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366510" y="5242560"/>
            <a:ext cx="3676015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rgbClr val="2563EB"/>
                </a:solidFill>
                <a:latin typeface="Arial" panose="020B0704020202020204"/>
                <a:ea typeface="微软雅黑"/>
                <a:cs typeface="Arial" panose="020B0704020202020204"/>
              </a:rPr>
              <a:t>本文目标：把数据质量写进 Scaling Law</a:t>
            </a:r>
            <a:endParaRPr lang="zh-CN" sz="1600" b="1" dirty="0">
              <a:solidFill>
                <a:srgbClr val="2563EB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5" name="Line 3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0FE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69570" y="6522720"/>
            <a:ext cx="18828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来源: Hoffmann et al. (2022)</a:t>
            </a:r>
            <a:endParaRPr lang="zh-CN" sz="90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16289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02</a:t>
            </a:r>
            <a:endParaRPr lang="zh-CN" sz="105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16"/>
              <p:cNvSpPr txBox="1"/>
              <p:nvPr/>
            </p:nvSpPr>
            <p:spPr>
              <a:xfrm>
                <a:off x="1691323" y="1938020"/>
                <a:ext cx="2903855" cy="5549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𝑳</m:t>
                      </m:r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𝑵</m:t>
                      </m:r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𝑫</m:t>
                      </m:r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)</m:t>
                      </m:r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1" i="1" dirty="0">
                              <a:solidFill>
                                <a:srgbClr val="333333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zh-CN" sz="1800" b="1" i="1" dirty="0">
                              <a:solidFill>
                                <a:srgbClr val="333333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𝑨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800" b="1" i="1" dirty="0">
                                  <a:solidFill>
                                    <a:srgbClr val="333333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dirty="0">
                                  <a:solidFill>
                                    <a:srgbClr val="333333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altLang="zh-CN" sz="1800" b="1" i="1" dirty="0">
                                  <a:solidFill>
                                    <a:srgbClr val="333333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𝜶</m:t>
                              </m:r>
                            </m:sup>
                          </m:sSup>
                        </m:den>
                      </m:f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800" b="1" i="1" dirty="0">
                              <a:solidFill>
                                <a:srgbClr val="333333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zh-CN" sz="1800" b="1" i="1" dirty="0">
                              <a:solidFill>
                                <a:srgbClr val="333333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𝑩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800" b="1" i="1" dirty="0">
                                  <a:solidFill>
                                    <a:srgbClr val="333333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dirty="0">
                                  <a:solidFill>
                                    <a:srgbClr val="333333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n-US" altLang="zh-CN" sz="1800" b="1" i="1" dirty="0">
                                  <a:solidFill>
                                    <a:srgbClr val="333333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𝜷</m:t>
                              </m:r>
                            </m:sup>
                          </m:sSup>
                        </m:den>
                      </m:f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+</m:t>
                      </m:r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𝑬</m:t>
                      </m:r>
                    </m:oMath>
                  </m:oMathPara>
                </a14:m>
                <a:endParaRPr lang="en-US" altLang="zh-CN" sz="1800" b="1" dirty="0">
                  <a:solidFill>
                    <a:srgbClr val="333333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</p:txBody>
          </p:sp>
        </mc:Choice>
        <mc:Fallback>
          <p:sp>
            <p:nvSpPr>
              <p:cNvPr id="38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323" y="1938020"/>
                <a:ext cx="2903855" cy="554990"/>
              </a:xfrm>
              <a:prstGeom prst="rect">
                <a:avLst/>
              </a:prstGeom>
              <a:blipFill rotWithShape="1">
                <a:blip r:embed="rId1"/>
                <a:stretch>
                  <a:fillRect l="-11" r="-2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369570" y="2581275"/>
            <a:ext cx="531622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1400" dirty="0">
                <a:solidFill>
                  <a:schemeClr val="bg1">
                    <a:lumMod val="65000"/>
                  </a:schemeClr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损失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=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函数近似误差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+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优化误差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+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不可约损失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704020202020204"/>
              <a:ea typeface="微软雅黑"/>
              <a:cs typeface="Arial" panose="020B0704020202020204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2398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数据质量：被忽略的第三维度</a:t>
            </a:r>
            <a:endParaRPr lang="zh-CN" sz="210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6985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已有研究碎片化地涉及质量，但缺少统一的、可预测的质量感知 Scaling Law</a:t>
            </a:r>
            <a:endParaRPr lang="zh-CN" sz="135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5524500" cy="30657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1" name="Rectangle 11"/>
          <p:cNvSpPr/>
          <p:nvPr/>
        </p:nvSpPr>
        <p:spPr>
          <a:xfrm>
            <a:off x="381000" y="1333500"/>
            <a:ext cx="55245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111693" y="1504950"/>
            <a:ext cx="206311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真实数据的质量问题</a:t>
            </a:r>
            <a:endParaRPr lang="zh-CN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50558" y="1910239"/>
            <a:ext cx="3863340" cy="215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噪声</a:t>
            </a:r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：拼写错误、格式混乱、OCR 伪影</a:t>
            </a:r>
            <a:endParaRPr lang="zh-CN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重复</a:t>
            </a:r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：多份拷贝、模板生成、镜像站点</a:t>
            </a:r>
            <a:endParaRPr lang="zh-CN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低质内容</a:t>
            </a:r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：机器翻译、自动生成、垃圾内容</a:t>
            </a:r>
            <a:endParaRPr lang="zh-CN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  <a:sym typeface="+mn-ea"/>
            </a:endParaRP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事实错误</a:t>
            </a:r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：过时信息、错误数据</a:t>
            </a:r>
            <a:endParaRPr lang="zh-CN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领域不匹配</a:t>
            </a:r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：通用语料 vs 专业领域</a:t>
            </a:r>
            <a:endParaRPr lang="zh-CN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  <a:sym typeface="+mn-ea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6286500" y="1333500"/>
            <a:ext cx="5524500" cy="306578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1333500"/>
            <a:ext cx="5524500" cy="571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017193" y="1504950"/>
            <a:ext cx="206311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已有工作（碎片化）</a:t>
            </a:r>
            <a:endParaRPr lang="zh-CN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557010" y="2023110"/>
            <a:ext cx="3719195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Bansal et al. (2022): NMT 中噪声的影响</a:t>
            </a:r>
            <a:endParaRPr lang="zh-CN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557010" y="2487930"/>
            <a:ext cx="3763645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Goyal et al. (2024): 数据过滤 ≠ 计算无关</a:t>
            </a:r>
            <a:endParaRPr lang="zh-CN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557010" y="2952750"/>
            <a:ext cx="360680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Chang et al. (2024): 多样性与合成数据</a:t>
            </a:r>
            <a:endParaRPr lang="zh-CN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557010" y="3404235"/>
            <a:ext cx="369697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Chen et al. (2025): 聚类密度的质量定义</a:t>
            </a:r>
            <a:endParaRPr lang="zh-CN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557010" y="3938905"/>
            <a:ext cx="4016375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rgbClr val="CC0000"/>
                </a:solidFill>
                <a:latin typeface="Arial" panose="020B0704020202020204"/>
                <a:ea typeface="微软雅黑"/>
                <a:cs typeface="Arial" panose="020B0704020202020204"/>
              </a:rPr>
              <a:t>但都是在</a:t>
            </a:r>
            <a:r>
              <a:rPr lang="en-US" altLang="zh-CN" sz="1600" b="1" dirty="0">
                <a:solidFill>
                  <a:srgbClr val="CC0000"/>
                </a:solidFill>
                <a:latin typeface="Arial" panose="020B0704020202020204"/>
                <a:ea typeface="微软雅黑"/>
                <a:cs typeface="Arial" panose="020B0704020202020204"/>
              </a:rPr>
              <a:t>Scaling law</a:t>
            </a:r>
            <a:r>
              <a:rPr lang="zh-CN" sz="1600" b="1" dirty="0">
                <a:solidFill>
                  <a:srgbClr val="CC0000"/>
                </a:solidFill>
                <a:latin typeface="Arial" panose="020B0704020202020204"/>
                <a:ea typeface="微软雅黑"/>
                <a:cs typeface="Arial" panose="020B0704020202020204"/>
              </a:rPr>
              <a:t> 框架之外讨论</a:t>
            </a:r>
            <a:r>
              <a:rPr lang="zh-CN" sz="1600" b="1" dirty="0">
                <a:solidFill>
                  <a:srgbClr val="CC0000"/>
                </a:solidFill>
                <a:latin typeface="Arial" panose="020B0704020202020204"/>
                <a:ea typeface="微软雅黑"/>
                <a:cs typeface="Arial" panose="020B0704020202020204"/>
              </a:rPr>
              <a:t>数据质量</a:t>
            </a:r>
            <a:endParaRPr lang="zh-CN" sz="1600" b="1" dirty="0">
              <a:solidFill>
                <a:srgbClr val="CC0000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381000" y="4591685"/>
            <a:ext cx="11430000" cy="152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381000" y="4591685"/>
            <a:ext cx="11430000" cy="571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268913" y="4842192"/>
            <a:ext cx="165417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本文的核心 Gap</a:t>
            </a:r>
            <a:endParaRPr lang="zh-CN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192779" y="5255578"/>
            <a:ext cx="580644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能不能将"数据质量"作为一个显式变量 Q，直接嵌入到 Chinchilla 公式中？</a:t>
            </a:r>
            <a:endParaRPr lang="zh-CN" sz="1400" dirty="0">
              <a:solidFill>
                <a:srgbClr val="E8F0FE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964622" y="5652770"/>
            <a:ext cx="4262755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FFFFFF">
                    <a:alpha val="7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目标：L(N, D, Q) = ? </a:t>
            </a:r>
            <a:r>
              <a:rPr lang="en-US" altLang="zh-CN" sz="1400" b="1" dirty="0">
                <a:solidFill>
                  <a:srgbClr val="FFFFFF">
                    <a:alpha val="7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——</a:t>
            </a:r>
            <a:r>
              <a:rPr lang="zh-CN" sz="1400" b="1" dirty="0">
                <a:solidFill>
                  <a:srgbClr val="FFFFFF">
                    <a:alpha val="7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 让质量变得可量化、可预测</a:t>
            </a:r>
            <a:endParaRPr lang="zh-CN" sz="1400" b="1" dirty="0">
              <a:solidFill>
                <a:srgbClr val="FFFFFF">
                  <a:alpha val="70000"/>
                </a:srgbClr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1" name="Line 3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0FE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69570" y="6522720"/>
            <a:ext cx="1289050" cy="138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Section 2</a:t>
            </a:r>
            <a:r>
              <a:rPr lang="en-US" alt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: </a:t>
            </a:r>
            <a:r>
              <a:rPr 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Related Works</a:t>
            </a:r>
            <a:endParaRPr lang="zh-CN" sz="90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6289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03</a:t>
            </a:r>
            <a:endParaRPr lang="zh-CN" sz="105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3864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核心思路：引入 Q 参数</a:t>
            </a:r>
            <a:endParaRPr lang="zh-CN" sz="210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598795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将"数据质量"定义为一个无量纲参数 Q ∈ (0, 1]，Q 越大</a:t>
            </a:r>
            <a:r>
              <a:rPr lang="zh-CN" sz="13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代表数据质量越高</a:t>
            </a:r>
            <a:endParaRPr lang="zh-CN" sz="135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11430000" cy="9525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746308" y="1492885"/>
            <a:ext cx="269938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Q：从完美数据到完全无效</a:t>
            </a:r>
            <a:endParaRPr lang="zh-CN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952500" y="1857375"/>
            <a:ext cx="10287000" cy="2286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52500" y="1857375"/>
            <a:ext cx="10287000" cy="228600"/>
          </a:xfrm>
          <a:prstGeom prst="rect">
            <a:avLst/>
          </a:prstGeom>
          <a:solidFill>
            <a:srgbClr val="003366">
              <a:alpha val="0"/>
            </a:srgbClr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952500" y="1857375"/>
            <a:ext cx="2057400" cy="228600"/>
          </a:xfrm>
          <a:prstGeom prst="rect">
            <a:avLst/>
          </a:prstGeom>
          <a:solidFill>
            <a:srgbClr val="CC0000">
              <a:alpha val="30000"/>
            </a:srgbClr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3009900" y="1857375"/>
            <a:ext cx="2057400" cy="228600"/>
          </a:xfrm>
          <a:prstGeom prst="rect">
            <a:avLst/>
          </a:prstGeom>
          <a:solidFill>
            <a:srgbClr val="CC0000">
              <a:alpha val="15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067300" y="1857375"/>
            <a:ext cx="2057400" cy="228600"/>
          </a:xfrm>
          <a:prstGeom prst="rect">
            <a:avLst/>
          </a:prstGeom>
          <a:solidFill>
            <a:srgbClr val="2563EB">
              <a:alpha val="15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7124700" y="1857375"/>
            <a:ext cx="2057400" cy="228600"/>
          </a:xfrm>
          <a:prstGeom prst="rect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9182100" y="1857375"/>
            <a:ext cx="2057400" cy="228600"/>
          </a:xfrm>
          <a:prstGeom prst="rect">
            <a:avLst/>
          </a:prstGeom>
          <a:solidFill>
            <a:srgbClr val="2563EB">
              <a:alpha val="3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9165" y="2172652"/>
            <a:ext cx="32956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C0000"/>
                </a:solidFill>
                <a:latin typeface="Arial" panose="020B0704020202020204"/>
                <a:ea typeface="微软雅黑"/>
                <a:cs typeface="Arial" panose="020B0704020202020204"/>
              </a:rPr>
              <a:t>Q </a:t>
            </a:r>
            <a:r>
              <a:rPr lang="en-US" altLang="zh-CN" sz="1050" b="1" dirty="0">
                <a:solidFill>
                  <a:srgbClr val="CC0000"/>
                </a:solidFill>
                <a:latin typeface="Arial" panose="020B0704020202020204"/>
                <a:ea typeface="微软雅黑"/>
                <a:cs typeface="Arial" panose="020B0704020202020204"/>
              </a:rPr>
              <a:t>=</a:t>
            </a:r>
            <a:r>
              <a:rPr lang="zh-CN" sz="1050" b="1" dirty="0">
                <a:solidFill>
                  <a:srgbClr val="CC0000"/>
                </a:solidFill>
                <a:latin typeface="Arial" panose="020B0704020202020204"/>
                <a:ea typeface="微软雅黑"/>
                <a:cs typeface="Arial" panose="020B0704020202020204"/>
              </a:rPr>
              <a:t> 0</a:t>
            </a:r>
            <a:endParaRPr lang="zh-CN" sz="1050" b="1" dirty="0">
              <a:solidFill>
                <a:srgbClr val="CC0000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810464" y="2172652"/>
            <a:ext cx="5710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Q = 0.5</a:t>
            </a:r>
            <a:endParaRPr lang="zh-CN" sz="105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694799" y="2172652"/>
            <a:ext cx="5580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2563EB"/>
                </a:solidFill>
                <a:latin typeface="Arial" panose="020B0704020202020204"/>
                <a:ea typeface="微软雅黑"/>
                <a:cs typeface="Arial" panose="020B0704020202020204"/>
              </a:rPr>
              <a:t>Q = 1.0</a:t>
            </a:r>
            <a:endParaRPr lang="zh-CN" sz="1050" b="1" dirty="0">
              <a:solidFill>
                <a:srgbClr val="2563EB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875655" y="2172652"/>
            <a:ext cx="440690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33333">
                    <a:alpha val="0"/>
                  </a:srgbClr>
                </a:solidFill>
                <a:latin typeface="Arial" panose="020B0704020202020204" pitchFamily="34" charset="0"/>
                <a:ea typeface="微软雅黑"/>
                <a:cs typeface="Arial" panose="020B0704020202020204" pitchFamily="34" charset="0"/>
              </a:rPr>
              <a:t>Q = 0.5</a:t>
            </a:r>
            <a:endParaRPr lang="zh-CN" sz="1050" b="1" dirty="0">
              <a:solidFill>
                <a:srgbClr val="333333">
                  <a:alpha val="0"/>
                </a:srgbClr>
              </a:solidFill>
              <a:latin typeface="Arial" panose="020B0704020202020204" pitchFamily="34" charset="0"/>
              <a:ea typeface="微软雅黑"/>
              <a:cs typeface="Arial" panose="020B0704020202020204" pitchFamily="34" charset="0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381000" y="2571750"/>
            <a:ext cx="5524500" cy="2540635"/>
          </a:xfrm>
          <a:prstGeom prst="rect">
            <a:avLst/>
          </a:prstGeom>
          <a:solidFill>
            <a:srgbClr val="FFFFFF"/>
          </a:solidFill>
          <a:ln w="14288">
            <a:solidFill>
              <a:srgbClr val="2563EB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81000" y="2571750"/>
            <a:ext cx="55245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225993" y="2751296"/>
            <a:ext cx="1834515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定义一：</a:t>
            </a:r>
            <a:r>
              <a:rPr lang="zh-CN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基于损坏率</a:t>
            </a:r>
            <a:endParaRPr lang="zh-CN" sz="16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559300" y="3163252"/>
            <a:ext cx="116790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563EB"/>
                </a:solidFill>
                <a:latin typeface="Arial" panose="020B0704020202020204"/>
                <a:ea typeface="微软雅黑"/>
                <a:cs typeface="Arial" panose="020B0704020202020204"/>
              </a:rPr>
              <a:t>Q = 1 − CR</a:t>
            </a:r>
            <a:endParaRPr lang="zh-CN" sz="1650" b="1" dirty="0">
              <a:solidFill>
                <a:srgbClr val="2563EB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52462" y="3520281"/>
            <a:ext cx="2593340" cy="9690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CR = 数据集中被污染的样本比例</a:t>
            </a:r>
            <a:endParaRPr lang="zh-CN" sz="140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25% 污染 → Q = 0.75</a:t>
            </a:r>
            <a:endParaRPr lang="zh-CN" sz="140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50% 污染 → Q = 0.50</a:t>
            </a:r>
            <a:endParaRPr lang="zh-CN" sz="140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  <a:sym typeface="+mn-ea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54368" y="4674394"/>
            <a:ext cx="25908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简单直观，适合有明确噪声标注的场景</a:t>
            </a:r>
            <a:endParaRPr lang="zh-CN" sz="1200" i="1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6286500" y="2571750"/>
            <a:ext cx="5524500" cy="25400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63EB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286500" y="2571750"/>
            <a:ext cx="55245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029575" y="2751296"/>
            <a:ext cx="203835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定义二：</a:t>
            </a:r>
            <a:r>
              <a:rPr lang="zh-CN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基于数据缺陷</a:t>
            </a:r>
            <a:endParaRPr lang="zh-CN" sz="16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300329" y="3162618"/>
            <a:ext cx="14968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563EB"/>
                </a:solidFill>
                <a:latin typeface="Arial" panose="020B0704020202020204"/>
                <a:ea typeface="微软雅黑"/>
                <a:cs typeface="Arial" panose="020B0704020202020204"/>
              </a:rPr>
              <a:t>Q = exp(−Δ)</a:t>
            </a:r>
            <a:endParaRPr lang="zh-CN" sz="1650" b="1" dirty="0">
              <a:solidFill>
                <a:srgbClr val="2563EB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5"/>
              <p:cNvSpPr txBox="1"/>
              <p:nvPr/>
            </p:nvSpPr>
            <p:spPr>
              <a:xfrm>
                <a:off x="6557962" y="3633311"/>
                <a:ext cx="2468245" cy="371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>
                          <a:solidFill>
                            <a:srgbClr val="6666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∆=</m:t>
                      </m:r>
                      <m:sSub>
                        <m:sSubPr>
                          <m:ctrlPr>
                            <a:rPr lang="en-US" altLang="zh-CN" sz="1400" i="1" dirty="0">
                              <a:solidFill>
                                <a:srgbClr val="6666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solidFill>
                                <a:srgbClr val="6666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400" i="1" dirty="0">
                              <a:solidFill>
                                <a:srgbClr val="6666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400" i="1" dirty="0">
                          <a:solidFill>
                            <a:srgbClr val="6666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𝐸</m:t>
                      </m:r>
                      <m:r>
                        <a:rPr lang="en-US" altLang="zh-CN" sz="1400" i="1" dirty="0">
                          <a:solidFill>
                            <a:srgbClr val="6666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400" i="1" dirty="0">
                              <a:solidFill>
                                <a:srgbClr val="6666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400" i="1" dirty="0">
                                  <a:solidFill>
                                    <a:srgbClr val="666666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 dirty="0">
                                  <a:solidFill>
                                    <a:srgbClr val="666666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400" i="1" dirty="0">
                                  <a:solidFill>
                                    <a:srgbClr val="666666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400" i="1" dirty="0">
                              <a:solidFill>
                                <a:srgbClr val="6666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𝐹</m:t>
                          </m:r>
                        </m:den>
                      </m:f>
                      <m:r>
                        <a:rPr lang="en-US" altLang="zh-CN" sz="1400" i="1" dirty="0">
                          <a:solidFill>
                            <a:srgbClr val="6666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i="1" dirty="0">
                              <a:solidFill>
                                <a:srgbClr val="6666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solidFill>
                                <a:srgbClr val="6666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400" i="1" dirty="0">
                              <a:solidFill>
                                <a:srgbClr val="6666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1400" i="1" dirty="0">
                          <a:solidFill>
                            <a:srgbClr val="6666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𝐺</m:t>
                      </m:r>
                      <m:r>
                        <a:rPr lang="en-US" altLang="zh-CN" sz="1400" i="1" dirty="0">
                          <a:solidFill>
                            <a:srgbClr val="6666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i="1" dirty="0">
                              <a:solidFill>
                                <a:srgbClr val="6666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solidFill>
                                <a:srgbClr val="6666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400" i="1" dirty="0">
                              <a:solidFill>
                                <a:srgbClr val="6666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1400" i="1" dirty="0">
                          <a:solidFill>
                            <a:srgbClr val="6666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𝐻</m:t>
                      </m:r>
                    </m:oMath>
                  </m:oMathPara>
                </a14:m>
                <a:endParaRPr lang="en-US" altLang="zh-CN" sz="1400" dirty="0">
                  <a:solidFill>
                    <a:srgbClr val="666666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</p:txBody>
          </p:sp>
        </mc:Choice>
        <mc:Fallback>
          <p:sp>
            <p:nvSpPr>
              <p:cNvPr id="35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962" y="3633311"/>
                <a:ext cx="2468245" cy="371475"/>
              </a:xfrm>
              <a:prstGeom prst="rect">
                <a:avLst/>
              </a:prstGeom>
              <a:blipFill rotWithShape="1">
                <a:blip r:embed="rId1"/>
                <a:stretch>
                  <a:fillRect l="-13" t="-128" r="-1093" b="1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6"/>
          <p:cNvSpPr txBox="1"/>
          <p:nvPr/>
        </p:nvSpPr>
        <p:spPr>
          <a:xfrm>
            <a:off x="6558915" y="4155757"/>
            <a:ext cx="499999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E=噪声程度、F=数据覆盖</a:t>
            </a:r>
            <a:r>
              <a:rPr lang="zh-CN" sz="14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度、G=数据重复量、H=合成数据</a:t>
            </a:r>
            <a:r>
              <a:rPr lang="zh-CN" sz="14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效应</a:t>
            </a:r>
            <a:endParaRPr lang="zh-CN" sz="140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559868" y="4674394"/>
            <a:ext cx="25908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可扩展——不同场景选择不同代理组合</a:t>
            </a:r>
            <a:endParaRPr lang="zh-CN" sz="1200" i="1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8" name="Polygon 38"/>
          <p:cNvSpPr/>
          <p:nvPr/>
        </p:nvSpPr>
        <p:spPr>
          <a:xfrm>
            <a:off x="5905500" y="3719195"/>
            <a:ext cx="114300" cy="285750"/>
          </a:xfrm>
          <a:custGeom>
            <a:avLst/>
            <a:gdLst/>
            <a:ahLst/>
            <a:cxnLst/>
            <a:rect l="l" t="t" r="r" b="b"/>
            <a:pathLst>
              <a:path w="114300" h="285750">
                <a:moveTo>
                  <a:pt x="0" y="0"/>
                </a:moveTo>
                <a:lnTo>
                  <a:pt x="114300" y="142875"/>
                </a:lnTo>
                <a:lnTo>
                  <a:pt x="0" y="28575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381000" y="5290820"/>
            <a:ext cx="11430000" cy="84582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236277" y="5469890"/>
            <a:ext cx="5719445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Q 的关键性质：平滑退化、单调递减、不同来源的质量缺陷可统一为标量</a:t>
            </a:r>
            <a:endParaRPr lang="zh-CN" sz="14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3991610" y="5795962"/>
            <a:ext cx="420878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Δ → 0 时 Q → 1（完美数据）；Δ → ∞ 时 Q → 0（完全无用）</a:t>
            </a:r>
            <a:endParaRPr lang="zh-CN" sz="120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2" name="Line 4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0FE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69570" y="6522720"/>
            <a:ext cx="24611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论文 Section 3: Data Quality Measures</a:t>
            </a:r>
            <a:endParaRPr lang="zh-CN" sz="90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16289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04</a:t>
            </a:r>
            <a:endParaRPr lang="zh-CN" sz="105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-10795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22199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数据质量感知 Scaling Law</a:t>
            </a:r>
            <a:endParaRPr lang="zh-CN" sz="210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9"/>
              <p:cNvSpPr txBox="1"/>
              <p:nvPr/>
            </p:nvSpPr>
            <p:spPr>
              <a:xfrm>
                <a:off x="363855" y="825818"/>
                <a:ext cx="5950585" cy="207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仅需在 Chinchilla 分母中新增一项</a:t>
                </a:r>
                <a:r>
                  <a:rPr lang="zh-CN" sz="1350" dirty="0">
                    <a:solidFill>
                      <a:schemeClr val="tx1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350" b="1" i="1" dirty="0">
                            <a:solidFill>
                              <a:schemeClr val="tx1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350" b="1" i="1" dirty="0">
                            <a:solidFill>
                              <a:schemeClr val="tx1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𝑸</m:t>
                        </m:r>
                      </m:e>
                      <m:sup>
                        <m:r>
                          <a:rPr lang="en-US" altLang="zh-CN" sz="1350" b="1" i="1" dirty="0">
                            <a:solidFill>
                              <a:schemeClr val="tx1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𝜸</m:t>
                        </m:r>
                      </m:sup>
                    </m:sSup>
                  </m:oMath>
                </a14:m>
                <a:r>
                  <a:rPr lang="zh-CN" sz="135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，就可以在 Scaling Law 中</a:t>
                </a:r>
                <a:r>
                  <a:rPr lang="zh-CN" sz="135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引入数据质量</a:t>
                </a:r>
                <a:endParaRPr lang="zh-CN" sz="1350" dirty="0">
                  <a:solidFill>
                    <a:srgbClr val="333333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</p:txBody>
          </p:sp>
        </mc:Choice>
        <mc:Fallback>
          <p:sp>
            <p:nvSpPr>
              <p:cNvPr id="9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55" y="825818"/>
                <a:ext cx="5950585" cy="207645"/>
              </a:xfrm>
              <a:prstGeom prst="rect">
                <a:avLst/>
              </a:prstGeom>
              <a:blipFill rotWithShape="1">
                <a:blip r:embed="rId1"/>
                <a:stretch>
                  <a:fillRect t="-2600" r="-640" b="1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10"/>
          <p:cNvSpPr/>
          <p:nvPr/>
        </p:nvSpPr>
        <p:spPr>
          <a:xfrm>
            <a:off x="381000" y="1333500"/>
            <a:ext cx="11430000" cy="174815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4910455" y="1469073"/>
            <a:ext cx="237109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数据质量感知 Scaling Law</a:t>
            </a:r>
            <a:endParaRPr lang="zh-CN" sz="1600" dirty="0">
              <a:solidFill>
                <a:srgbClr val="E8F0FE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2"/>
              <p:cNvSpPr txBox="1"/>
              <p:nvPr/>
            </p:nvSpPr>
            <p:spPr>
              <a:xfrm>
                <a:off x="3689351" y="1810385"/>
                <a:ext cx="4813300" cy="8020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solidFill>
                            <a:srgbClr val="FFFFFF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𝑳</m:t>
                      </m:r>
                      <m:r>
                        <a:rPr lang="en-US" altLang="zh-CN" sz="2400" b="1" i="1" dirty="0">
                          <a:solidFill>
                            <a:srgbClr val="FFFFFF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altLang="zh-CN" sz="2400" b="1" i="1" dirty="0">
                          <a:solidFill>
                            <a:srgbClr val="FFFFFF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𝑵</m:t>
                      </m:r>
                      <m:r>
                        <a:rPr lang="en-US" altLang="zh-CN" sz="2400" b="1" i="1" dirty="0">
                          <a:solidFill>
                            <a:srgbClr val="FFFFFF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altLang="zh-CN" sz="2400" b="1" i="1" dirty="0">
                          <a:solidFill>
                            <a:srgbClr val="FFFFFF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𝑫</m:t>
                      </m:r>
                      <m:r>
                        <a:rPr lang="en-US" altLang="zh-CN" sz="2400" b="1" i="1" dirty="0">
                          <a:solidFill>
                            <a:srgbClr val="FFFFFF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altLang="zh-CN" sz="2400" b="1" i="1" dirty="0">
                          <a:solidFill>
                            <a:srgbClr val="FFFFFF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𝑸</m:t>
                      </m:r>
                      <m:r>
                        <a:rPr lang="en-US" altLang="zh-CN" sz="2400" b="1" i="1" dirty="0">
                          <a:solidFill>
                            <a:srgbClr val="FFFFFF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400" b="1" i="1" dirty="0">
                              <a:solidFill>
                                <a:srgbClr val="FFFFFF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zh-CN" sz="2400" b="1" i="1" dirty="0">
                              <a:solidFill>
                                <a:srgbClr val="FFFFFF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𝑨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1" i="1" dirty="0">
                                  <a:solidFill>
                                    <a:srgbClr val="FFFFFF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solidFill>
                                    <a:srgbClr val="FFFFFF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altLang="zh-CN" sz="2400" b="1" i="1" dirty="0">
                                  <a:solidFill>
                                    <a:srgbClr val="FFFFFF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𝜶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1" i="1" dirty="0">
                          <a:solidFill>
                            <a:srgbClr val="FFFFFF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1" i="1" dirty="0">
                              <a:solidFill>
                                <a:srgbClr val="FFFFFF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zh-CN" sz="2400" b="1" i="1" dirty="0">
                              <a:solidFill>
                                <a:srgbClr val="FFFFFF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𝑩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1" i="1" dirty="0">
                                  <a:solidFill>
                                    <a:srgbClr val="FFFFFF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solidFill>
                                    <a:srgbClr val="FFFFFF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n-US" altLang="zh-CN" sz="2400" b="1" i="1" dirty="0">
                                  <a:solidFill>
                                    <a:srgbClr val="FFFFFF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𝜷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1" i="1" dirty="0">
                                  <a:solidFill>
                                    <a:srgbClr val="FFFFFF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solidFill>
                                    <a:srgbClr val="FFFFFF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altLang="zh-CN" sz="2400" b="1" i="1" dirty="0">
                                  <a:solidFill>
                                    <a:srgbClr val="FFFFFF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𝜸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1" i="1" dirty="0">
                          <a:solidFill>
                            <a:srgbClr val="FFFFFF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+</m:t>
                      </m:r>
                      <m:r>
                        <a:rPr lang="en-US" altLang="zh-CN" sz="2400" b="1" i="1" dirty="0">
                          <a:solidFill>
                            <a:srgbClr val="FFFFFF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𝑬</m:t>
                      </m:r>
                    </m:oMath>
                  </m:oMathPara>
                </a14:m>
                <a:endParaRPr lang="en-US" altLang="zh-CN" sz="2400" b="1" i="1" dirty="0">
                  <a:solidFill>
                    <a:srgbClr val="FFFFFF"/>
                  </a:solidFill>
                  <a:latin typeface="DejaVu Math TeX Gyre" panose="02000503000000000000" charset="0"/>
                  <a:ea typeface="微软雅黑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2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351" y="1810385"/>
                <a:ext cx="4813300" cy="802005"/>
              </a:xfrm>
              <a:prstGeom prst="rect">
                <a:avLst/>
              </a:prstGeom>
              <a:blipFill rotWithShape="1">
                <a:blip r:embed="rId2"/>
                <a:stretch>
                  <a:fillRect r="-20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4"/>
          <p:cNvSpPr/>
          <p:nvPr/>
        </p:nvSpPr>
        <p:spPr>
          <a:xfrm>
            <a:off x="381000" y="3262630"/>
            <a:ext cx="5524500" cy="17145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955482" y="3442176"/>
            <a:ext cx="2375535" cy="2197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Chinchilla 论文中</a:t>
            </a:r>
            <a:r>
              <a:rPr lang="zh-CN" sz="142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的原始公式</a:t>
            </a:r>
            <a:endParaRPr lang="zh-CN" sz="1425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6"/>
              <p:cNvSpPr txBox="1"/>
              <p:nvPr/>
            </p:nvSpPr>
            <p:spPr>
              <a:xfrm>
                <a:off x="1691323" y="3767455"/>
                <a:ext cx="2903855" cy="5549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𝑳</m:t>
                      </m:r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𝑵</m:t>
                      </m:r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𝑫</m:t>
                      </m:r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)</m:t>
                      </m:r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1" i="1" dirty="0">
                              <a:solidFill>
                                <a:srgbClr val="333333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zh-CN" sz="1800" b="1" i="1" dirty="0">
                              <a:solidFill>
                                <a:srgbClr val="333333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𝑨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800" b="1" i="1" dirty="0">
                                  <a:solidFill>
                                    <a:srgbClr val="333333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dirty="0">
                                  <a:solidFill>
                                    <a:srgbClr val="333333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altLang="zh-CN" sz="1800" b="1" i="1" dirty="0">
                                  <a:solidFill>
                                    <a:srgbClr val="333333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𝜶</m:t>
                              </m:r>
                            </m:sup>
                          </m:sSup>
                        </m:den>
                      </m:f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800" b="1" i="1" dirty="0">
                              <a:solidFill>
                                <a:srgbClr val="333333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zh-CN" sz="1800" b="1" i="1" dirty="0">
                              <a:solidFill>
                                <a:srgbClr val="333333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𝑩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800" b="1" i="1" dirty="0">
                                  <a:solidFill>
                                    <a:srgbClr val="333333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dirty="0">
                                  <a:solidFill>
                                    <a:srgbClr val="333333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n-US" altLang="zh-CN" sz="1800" b="1" i="1" dirty="0">
                                  <a:solidFill>
                                    <a:srgbClr val="333333"/>
                                  </a:solidFill>
                                  <a:latin typeface="DejaVu Math TeX Gyre" panose="02000503000000000000" charset="0"/>
                                  <a:ea typeface="微软雅黑"/>
                                  <a:cs typeface="DejaVu Math TeX Gyre" panose="02000503000000000000" charset="0"/>
                                </a:rPr>
                                <m:t>𝜷</m:t>
                              </m:r>
                            </m:sup>
                          </m:sSup>
                        </m:den>
                      </m:f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+</m:t>
                      </m:r>
                      <m:r>
                        <a:rPr lang="en-US" altLang="zh-CN" sz="1800" b="1" i="1" dirty="0">
                          <a:solidFill>
                            <a:srgbClr val="333333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𝑬</m:t>
                      </m:r>
                    </m:oMath>
                  </m:oMathPara>
                </a14:m>
                <a:endParaRPr lang="en-US" altLang="zh-CN" sz="1800" b="1" dirty="0">
                  <a:solidFill>
                    <a:srgbClr val="333333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</p:txBody>
          </p:sp>
        </mc:Choice>
        <mc:Fallback>
          <p:sp>
            <p:nvSpPr>
              <p:cNvPr id="16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323" y="3767455"/>
                <a:ext cx="2903855" cy="554990"/>
              </a:xfrm>
              <a:prstGeom prst="rect">
                <a:avLst/>
              </a:prstGeom>
              <a:blipFill rotWithShape="1">
                <a:blip r:embed="rId3"/>
                <a:stretch>
                  <a:fillRect l="-11" r="-2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7"/>
          <p:cNvSpPr txBox="1"/>
          <p:nvPr/>
        </p:nvSpPr>
        <p:spPr>
          <a:xfrm>
            <a:off x="1605597" y="4427061"/>
            <a:ext cx="3077210" cy="173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两个变量：N（模型参数量）、D（</a:t>
            </a:r>
            <a:r>
              <a:rPr lang="zh-CN" sz="1125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训练数据</a:t>
            </a:r>
            <a:r>
              <a:rPr lang="zh-CN" sz="1125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量）</a:t>
            </a:r>
            <a:endParaRPr lang="zh-CN" sz="1125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6286500" y="3262630"/>
            <a:ext cx="5524500" cy="1696720"/>
          </a:xfrm>
          <a:prstGeom prst="rect">
            <a:avLst/>
          </a:prstGeom>
          <a:solidFill>
            <a:srgbClr val="E8F0FE"/>
          </a:solidFill>
          <a:ln w="19050">
            <a:solidFill>
              <a:srgbClr val="2563E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93598" y="344217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本文扩展</a:t>
            </a:r>
            <a:endParaRPr lang="zh-CN" sz="1425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20"/>
              <p:cNvSpPr txBox="1"/>
              <p:nvPr/>
            </p:nvSpPr>
            <p:spPr>
              <a:xfrm>
                <a:off x="7339647" y="3804920"/>
                <a:ext cx="3418205" cy="4394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8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𝑳</m:t>
                    </m:r>
                    <m:r>
                      <a:rPr lang="en-US" altLang="zh-CN" sz="18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18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𝑵</m:t>
                    </m:r>
                    <m:r>
                      <a:rPr lang="en-US" altLang="zh-CN" sz="18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,</m:t>
                    </m:r>
                    <m:r>
                      <a:rPr lang="en-US" altLang="zh-CN" sz="18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𝑫</m:t>
                    </m:r>
                    <m:r>
                      <a:rPr lang="en-US" altLang="zh-CN" sz="18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,</m:t>
                    </m:r>
                    <m:r>
                      <a:rPr lang="en-US" altLang="zh-CN" sz="18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𝑸</m:t>
                    </m:r>
                    <m:r>
                      <a:rPr lang="en-US" altLang="zh-CN" sz="18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)</m:t>
                    </m:r>
                    <m:r>
                      <a:rPr lang="en-US" altLang="zh-CN" sz="18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=</m:t>
                    </m:r>
                    <m:f>
                      <m:fPr>
                        <m:ctrlPr>
                          <a:rPr lang="en-US" altLang="zh-CN" sz="1800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zh-CN" sz="1800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𝑨</m:t>
                        </m:r>
                      </m:num>
                      <m:den>
                        <m:sSup>
                          <m:sSupPr>
                            <m:ctrlPr>
                              <a:rPr lang="en-US" altLang="zh-CN" sz="1800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zh-CN" sz="1800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altLang="zh-CN" sz="1800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𝜶</m:t>
                            </m:r>
                          </m:sup>
                        </m:sSup>
                      </m:den>
                    </m:f>
                    <m:r>
                      <a:rPr lang="en-US" altLang="zh-CN" sz="18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+</m:t>
                    </m:r>
                    <m:f>
                      <m:fPr>
                        <m:ctrlPr>
                          <a:rPr lang="en-US" altLang="zh-CN" sz="1800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zh-CN" sz="1800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𝑩</m:t>
                        </m:r>
                      </m:num>
                      <m:den>
                        <m:sSup>
                          <m:sSupPr>
                            <m:ctrlPr>
                              <a:rPr lang="en-US" altLang="zh-CN" sz="1800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zh-CN" sz="1800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𝑫</m:t>
                            </m:r>
                          </m:e>
                          <m:sup>
                            <m:r>
                              <a:rPr lang="en-US" altLang="zh-CN" sz="1800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𝜷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1800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zh-CN" sz="1800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𝑸</m:t>
                            </m:r>
                          </m:e>
                          <m:sup>
                            <m:r>
                              <a:rPr lang="en-US" altLang="zh-CN" sz="1800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𝜸</m:t>
                            </m:r>
                          </m:sup>
                        </m:sSup>
                      </m:den>
                    </m:f>
                    <m:r>
                      <a:rPr lang="en-US" altLang="zh-CN" sz="18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+</m:t>
                    </m:r>
                    <m:r>
                      <a:rPr lang="en-US" altLang="zh-CN" sz="18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𝑬</m:t>
                    </m:r>
                  </m:oMath>
                </a14:m>
                <a:r>
                  <a:rPr lang="zh-CN" sz="1800" b="1" dirty="0">
                    <a:solidFill>
                      <a:srgbClr val="003366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 </a:t>
                </a:r>
                <a:endParaRPr lang="zh-CN" sz="1800" b="1" dirty="0">
                  <a:solidFill>
                    <a:srgbClr val="003366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</p:txBody>
          </p:sp>
        </mc:Choice>
        <mc:Fallback>
          <p:sp>
            <p:nvSpPr>
              <p:cNvPr id="20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647" y="3804920"/>
                <a:ext cx="3418205" cy="439420"/>
              </a:xfrm>
              <a:prstGeom prst="rect">
                <a:avLst/>
              </a:prstGeom>
              <a:blipFill rotWithShape="1">
                <a:blip r:embed="rId4"/>
                <a:stretch>
                  <a:fillRect l="-9" r="-37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1"/>
          <p:cNvSpPr txBox="1"/>
          <p:nvPr/>
        </p:nvSpPr>
        <p:spPr>
          <a:xfrm>
            <a:off x="7801292" y="4427061"/>
            <a:ext cx="24956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563EB"/>
                </a:solidFill>
                <a:latin typeface="Arial" panose="020B0704020202020204"/>
                <a:ea typeface="微软雅黑"/>
                <a:cs typeface="Arial" panose="020B0704020202020204"/>
              </a:rPr>
              <a:t>三个变量：N + D + Q → 全新维度</a:t>
            </a:r>
            <a:endParaRPr lang="zh-CN" sz="1125" b="1" dirty="0">
              <a:solidFill>
                <a:srgbClr val="2563EB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381000" y="5205730"/>
            <a:ext cx="11430000" cy="883285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3"/>
              <p:cNvSpPr txBox="1"/>
              <p:nvPr/>
            </p:nvSpPr>
            <p:spPr>
              <a:xfrm>
                <a:off x="2932748" y="5346383"/>
                <a:ext cx="6326505" cy="3092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6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有效样本量</m:t>
                    </m:r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𝑫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 </m:t>
                        </m:r>
                        <m:r>
                          <a:rPr lang="en-US" altLang="zh-CN" sz="1600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𝑒𝑓𝑓</m:t>
                        </m:r>
                      </m:sub>
                    </m:sSub>
                    <m:r>
                      <a:rPr lang="en-US" altLang="zh-CN" sz="16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zh-CN" sz="16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𝑫</m:t>
                    </m:r>
                    <m:r>
                      <a:rPr lang="en-US" altLang="zh-CN" sz="1600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·</m:t>
                    </m:r>
                    <m:sSup>
                      <m:sSupPr>
                        <m:ctrlPr>
                          <a:rPr lang="en-US" altLang="zh-CN" sz="1600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600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𝑸</m:t>
                        </m:r>
                      </m:e>
                      <m:sup>
                        <m:r>
                          <a:rPr lang="en-US" altLang="zh-CN" sz="1600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𝜸</m:t>
                        </m:r>
                      </m:sup>
                    </m:sSup>
                  </m:oMath>
                </a14:m>
                <a:r>
                  <a:rPr lang="zh-CN" sz="1600" b="1" dirty="0">
                    <a:solidFill>
                      <a:srgbClr val="003366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 ：质量降级等价于有效样本量按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600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𝑸</m:t>
                        </m:r>
                      </m:e>
                      <m:sup>
                        <m:r>
                          <a:rPr lang="en-US" altLang="zh-CN" sz="1600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𝜸</m:t>
                        </m:r>
                      </m:sup>
                    </m:sSup>
                  </m:oMath>
                </a14:m>
                <a:r>
                  <a:rPr lang="zh-CN" sz="1600" b="1" dirty="0">
                    <a:solidFill>
                      <a:srgbClr val="003366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 倍缩减</a:t>
                </a:r>
                <a:endParaRPr lang="zh-CN" sz="1600" b="1" dirty="0">
                  <a:solidFill>
                    <a:srgbClr val="003366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</p:txBody>
          </p:sp>
        </mc:Choice>
        <mc:Fallback>
          <p:sp>
            <p:nvSpPr>
              <p:cNvPr id="23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748" y="5346383"/>
                <a:ext cx="6326505" cy="309245"/>
              </a:xfrm>
              <a:prstGeom prst="rect">
                <a:avLst/>
              </a:prstGeom>
              <a:blipFill rotWithShape="1">
                <a:blip r:embed="rId5"/>
                <a:stretch>
                  <a:fillRect l="-1049" t="-103" r="-1922" b="1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4"/>
          <p:cNvSpPr txBox="1"/>
          <p:nvPr/>
        </p:nvSpPr>
        <p:spPr>
          <a:xfrm>
            <a:off x="3388996" y="5716746"/>
            <a:ext cx="541401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γ 是质量敏感指数：γ 越大 → 对质量越敏感；γ 越小 → 对噪声越鲁棒</a:t>
            </a:r>
            <a:endParaRPr lang="zh-CN" sz="140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5" name="Line 2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0FE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369570" y="6522720"/>
            <a:ext cx="27832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论文 Section 4: Quality-Aware Scaling Laws</a:t>
            </a:r>
            <a:endParaRPr lang="zh-CN" sz="90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6289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05</a:t>
            </a:r>
            <a:endParaRPr lang="zh-CN" sz="105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8635" y="265620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1400" dirty="0">
                <a:solidFill>
                  <a:schemeClr val="bg1">
                    <a:lumMod val="75000"/>
                  </a:schemeClr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损失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=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函数近似误差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+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优化误差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+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不可约损失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  <a:latin typeface="Arial" panose="020B0704020202020204"/>
              <a:ea typeface="微软雅黑"/>
              <a:cs typeface="Arial" panose="020B0704020202020204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09327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理论基础：从 Fisher 信息到互信息</a:t>
            </a:r>
            <a:endParaRPr lang="zh-CN" sz="210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9"/>
              <p:cNvSpPr txBox="1"/>
              <p:nvPr/>
            </p:nvSpPr>
            <p:spPr>
              <a:xfrm>
                <a:off x="363855" y="825818"/>
                <a:ext cx="5019040" cy="208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两种理论路径，共同推导出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35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35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𝑒𝑓𝑓</m:t>
                        </m:r>
                      </m:sub>
                    </m:sSub>
                    <m:sSup>
                      <m:sSupPr>
                        <m:ctrlPr>
                          <a:rPr lang="en-US" altLang="zh-CN" sz="135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35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=</m:t>
                        </m:r>
                        <m:r>
                          <a:rPr lang="en-US" altLang="zh-CN" sz="135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𝐷</m:t>
                        </m:r>
                        <m:r>
                          <a:rPr lang="en-US" altLang="zh-CN" sz="135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·</m:t>
                        </m:r>
                        <m:r>
                          <a:rPr lang="en-US" altLang="zh-CN" sz="135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𝑄</m:t>
                        </m:r>
                      </m:e>
                      <m:sup>
                        <m:r>
                          <a:rPr lang="en-US" altLang="zh-CN" sz="135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𝛾</m:t>
                        </m:r>
                      </m:sup>
                    </m:sSup>
                  </m:oMath>
                </a14:m>
                <a:r>
                  <a:rPr lang="zh-CN" sz="135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 → 质量感知 Scaling Law</a:t>
                </a:r>
                <a:endParaRPr lang="zh-CN" sz="1350" dirty="0">
                  <a:solidFill>
                    <a:srgbClr val="333333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</p:txBody>
          </p:sp>
        </mc:Choice>
        <mc:Fallback>
          <p:sp>
            <p:nvSpPr>
              <p:cNvPr id="9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55" y="825818"/>
                <a:ext cx="5019040" cy="208280"/>
              </a:xfrm>
              <a:prstGeom prst="rect">
                <a:avLst/>
              </a:prstGeom>
              <a:blipFill rotWithShape="1">
                <a:blip r:embed="rId1"/>
                <a:stretch>
                  <a:fillRect t="-153" r="-2910" b="-71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10"/>
          <p:cNvSpPr/>
          <p:nvPr/>
        </p:nvSpPr>
        <p:spPr>
          <a:xfrm>
            <a:off x="381000" y="1333500"/>
            <a:ext cx="5524500" cy="305562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55245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529715" y="1513046"/>
            <a:ext cx="322707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引理 1：加性高斯噪声</a:t>
            </a:r>
            <a:r>
              <a:rPr lang="en-US" altLang="zh-CN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（</a:t>
            </a:r>
            <a:r>
              <a:rPr lang="zh-CN" altLang="en-US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连续叠加</a:t>
            </a:r>
            <a:r>
              <a:rPr lang="en-US" altLang="zh-CN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）</a:t>
            </a:r>
            <a:endParaRPr lang="en-US" altLang="zh-CN" sz="16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3"/>
              <p:cNvSpPr txBox="1"/>
              <p:nvPr/>
            </p:nvSpPr>
            <p:spPr>
              <a:xfrm>
                <a:off x="651510" y="1870710"/>
                <a:ext cx="3717925" cy="17868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观测模型：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𝑓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(</m:t>
                    </m:r>
                    <m:sSub>
                      <m:sSub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)+</m:t>
                    </m:r>
                    <m:sSub>
                      <m:sSub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𝜀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，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 </m:t>
                    </m:r>
                    <m:sSub>
                      <m:sSub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𝜀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~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𝑁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0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,</m:t>
                    </m:r>
                    <m:sSup>
                      <m:sSup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en-US" altLang="zh-CN" sz="1200" i="1" dirty="0">
                  <a:solidFill>
                    <a:srgbClr val="333333"/>
                  </a:solidFill>
                  <a:latin typeface="DejaVu Math TeX Gyre" panose="02000503000000000000" charset="0"/>
                  <a:ea typeface="微软雅黑"/>
                  <a:cs typeface="DejaVu Math TeX Gyre" panose="02000503000000000000" charset="0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每个观测值的对数似然为</a:t>
                </a:r>
                <a:r>
                  <a:rPr lang="en-US" alt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𝑙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𝜃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)=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−</m:t>
                    </m:r>
                    <m:f>
                      <m:f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1</m:t>
                        </m:r>
                      </m:num>
                      <m:den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1200" i="1" dirty="0">
                                <a:solidFill>
                                  <a:srgbClr val="333333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zh-CN" sz="1200" i="1" dirty="0">
                                <a:solidFill>
                                  <a:srgbClr val="333333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200" i="1" dirty="0">
                                <a:solidFill>
                                  <a:srgbClr val="333333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𝑦</m:t>
                        </m:r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𝜃</m:t>
                        </m:r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)</m:t>
                        </m:r>
                      </m:e>
                      <m:sup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+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𝑐</m:t>
                    </m:r>
                  </m:oMath>
                </a14:m>
                <a:endParaRPr lang="zh-CN" sz="1200" dirty="0">
                  <a:solidFill>
                    <a:srgbClr val="333333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  <a:sym typeface="+mn-ea"/>
                  </a:rPr>
                  <a:t>每个样本 Fisher 信息：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𝜃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)=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𝔼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[−</m:t>
                    </m:r>
                    <m:f>
                      <m:f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200" i="1" dirty="0">
                                <a:solidFill>
                                  <a:srgbClr val="333333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zh-CN" sz="1200" i="1" dirty="0">
                                <a:solidFill>
                                  <a:srgbClr val="333333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1200" i="1" dirty="0">
                                <a:solidFill>
                                  <a:srgbClr val="333333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sz="1200" i="1" dirty="0">
                                <a:solidFill>
                                  <a:srgbClr val="333333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zh-CN" sz="1200" i="1" dirty="0">
                                <a:solidFill>
                                  <a:srgbClr val="333333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CN" sz="1200" i="1" dirty="0">
                                <a:solidFill>
                                  <a:srgbClr val="333333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𝑙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𝜃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)]=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1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/</m:t>
                    </m:r>
                    <m:sSup>
                      <m:sSup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</m:oMath>
                </a14:m>
                <a:endParaRPr lang="zh-CN" sz="1200" dirty="0">
                  <a:solidFill>
                    <a:srgbClr val="333333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  <a:sym typeface="+mn-ea"/>
                  </a:rPr>
                  <a:t>D 个样本总信息：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𝐷</m:t>
                        </m:r>
                      </m:sub>
                    </m:sSub>
                    <m:f>
                      <m:fPr>
                        <m:type m:val="lin"/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=</m:t>
                        </m:r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𝐷</m:t>
                        </m:r>
                      </m:num>
                      <m:den>
                        <m:sSup>
                          <m:sSupPr>
                            <m:ctrlPr>
                              <a:rPr lang="en-US" altLang="zh-CN" sz="1200" i="1" dirty="0">
                                <a:solidFill>
                                  <a:srgbClr val="333333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zh-CN" sz="1200" i="1" dirty="0">
                                <a:solidFill>
                                  <a:srgbClr val="333333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1200" i="1" dirty="0">
                                <a:solidFill>
                                  <a:srgbClr val="333333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1200" i="1" dirty="0">
                  <a:solidFill>
                    <a:srgbClr val="333333"/>
                  </a:solidFill>
                  <a:latin typeface="DejaVu Math TeX Gyre" panose="02000503000000000000" charset="0"/>
                  <a:ea typeface="微软雅黑"/>
                  <a:cs typeface="DejaVu Math TeX Gyre" panose="02000503000000000000" charset="0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定义缺陷</a:t>
                </a:r>
                <a14:m>
                  <m:oMath xmlns:m="http://schemas.openxmlformats.org/officeDocument/2006/math"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∆=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𝑙𝑛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(</m:t>
                    </m:r>
                    <m:sSup>
                      <m:sSup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/</m:t>
                    </m:r>
                    <m:sSubSup>
                      <m:sSubSup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0</m:t>
                        </m:r>
                      </m:sub>
                      <m:sup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2</m:t>
                        </m:r>
                      </m:sup>
                    </m:sSubSup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)，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𝑄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=</m:t>
                    </m:r>
                    <m:sSup>
                      <m:sSup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∆</m:t>
                        </m:r>
                      </m:sup>
                    </m:sSup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=</m:t>
                    </m:r>
                    <m:sSubSup>
                      <m:sSubSup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0</m:t>
                        </m:r>
                      </m:sub>
                      <m:sup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2</m:t>
                        </m:r>
                      </m:sup>
                    </m:sSubSup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/</m:t>
                    </m:r>
                    <m:sSup>
                      <m:sSup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1200" i="1" dirty="0">
                  <a:solidFill>
                    <a:srgbClr val="333333"/>
                  </a:solidFill>
                  <a:latin typeface="DejaVu Math TeX Gyre" panose="02000503000000000000" charset="0"/>
                  <a:ea typeface="微软雅黑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3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10" y="1870710"/>
                <a:ext cx="3717925" cy="1786890"/>
              </a:xfrm>
              <a:prstGeom prst="rect">
                <a:avLst/>
              </a:prstGeom>
              <a:blipFill rotWithShape="1">
                <a:blip r:embed="rId2"/>
                <a:stretch>
                  <a:fillRect r="-9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6"/>
          <p:cNvSpPr/>
          <p:nvPr/>
        </p:nvSpPr>
        <p:spPr>
          <a:xfrm>
            <a:off x="666750" y="3832860"/>
            <a:ext cx="4953000" cy="428625"/>
          </a:xfrm>
          <a:prstGeom prst="rect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7"/>
              <p:cNvSpPr txBox="1"/>
              <p:nvPr/>
            </p:nvSpPr>
            <p:spPr>
              <a:xfrm>
                <a:off x="1692593" y="3961924"/>
                <a:ext cx="2901315" cy="2178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75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75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𝑫</m:t>
                        </m:r>
                      </m:e>
                      <m:sub>
                        <m:r>
                          <a:rPr lang="en-US" altLang="zh-CN" sz="1275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 </m:t>
                        </m:r>
                        <m:r>
                          <a:rPr lang="en-US" altLang="zh-CN" sz="1275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𝑒𝑓𝑓</m:t>
                        </m:r>
                      </m:sub>
                    </m:sSub>
                    <m:r>
                      <a:rPr lang="en-US" altLang="zh-CN" sz="1275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zh-CN" sz="1275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𝑫</m:t>
                    </m:r>
                    <m:r>
                      <a:rPr lang="en-US" altLang="zh-CN" sz="1275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US" altLang="zh-CN" sz="1275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275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a:rPr lang="en-US" altLang="zh-CN" sz="1275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sz="1275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1275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altLang="zh-CN" sz="1275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zh-CN" sz="1275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sz="1275" b="1" i="1" dirty="0">
                                <a:solidFill>
                                  <a:srgbClr val="003366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1275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)</m:t>
                    </m:r>
                    <m:r>
                      <a:rPr lang="en-US" altLang="zh-CN" sz="1275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zh-CN" sz="1275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𝑫</m:t>
                    </m:r>
                    <m:sSup>
                      <m:sSupPr>
                        <m:ctrlPr>
                          <a:rPr lang="en-US" altLang="zh-CN" sz="1275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275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·</m:t>
                        </m:r>
                        <m:r>
                          <a:rPr lang="en-US" altLang="zh-CN" sz="1275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𝑸</m:t>
                        </m:r>
                      </m:e>
                      <m:sup>
                        <m:r>
                          <a:rPr lang="en-US" altLang="zh-CN" sz="1275" b="1" i="1" dirty="0">
                            <a:solidFill>
                              <a:srgbClr val="0033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𝜸</m:t>
                        </m:r>
                      </m:sup>
                    </m:sSup>
                    <m:r>
                      <a:rPr lang="en-US" altLang="zh-CN" sz="1275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 (</m:t>
                    </m:r>
                    <m:r>
                      <a:rPr lang="en-US" altLang="zh-CN" sz="1275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𝜸</m:t>
                    </m:r>
                    <m:r>
                      <a:rPr lang="en-US" altLang="zh-CN" sz="1275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zh-CN" sz="1275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𝟏</m:t>
                    </m:r>
                    <m:r>
                      <a:rPr lang="en-US" altLang="zh-CN" sz="1275" b="1" i="1" dirty="0">
                        <a:solidFill>
                          <a:srgbClr val="0033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zh-CN" sz="1275" b="1" dirty="0">
                    <a:solidFill>
                      <a:srgbClr val="003366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 </a:t>
                </a:r>
                <a:endParaRPr lang="zh-CN" sz="1275" b="1" dirty="0">
                  <a:solidFill>
                    <a:srgbClr val="003366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</p:txBody>
          </p:sp>
        </mc:Choice>
        <mc:Fallback>
          <p:sp>
            <p:nvSpPr>
              <p:cNvPr id="17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593" y="3961924"/>
                <a:ext cx="2901315" cy="217805"/>
              </a:xfrm>
              <a:prstGeom prst="rect">
                <a:avLst/>
              </a:prstGeom>
              <a:blipFill rotWithShape="1">
                <a:blip r:embed="rId3"/>
                <a:stretch>
                  <a:fillRect l="-1762" t="-73" r="-4848" b="-54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8"/>
          <p:cNvSpPr/>
          <p:nvPr/>
        </p:nvSpPr>
        <p:spPr>
          <a:xfrm>
            <a:off x="6286500" y="1333500"/>
            <a:ext cx="5524500" cy="30289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9" name="Rectangle 19"/>
          <p:cNvSpPr/>
          <p:nvPr/>
        </p:nvSpPr>
        <p:spPr>
          <a:xfrm>
            <a:off x="6286500" y="1333500"/>
            <a:ext cx="55245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639051" y="1513046"/>
            <a:ext cx="281940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引理 2：随机分类噪声（离散</a:t>
            </a:r>
            <a:r>
              <a:rPr lang="zh-CN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）</a:t>
            </a:r>
            <a:endParaRPr lang="zh-CN" sz="16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2"/>
              <p:cNvSpPr txBox="1"/>
              <p:nvPr/>
            </p:nvSpPr>
            <p:spPr>
              <a:xfrm>
                <a:off x="6572250" y="1969135"/>
                <a:ext cx="4672330" cy="1510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ct val="200000"/>
                  </a:lnSpc>
                </a:pPr>
                <a:r>
                  <a:rPr 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  <a:sym typeface="+mn-ea"/>
                  </a:rPr>
                  <a:t>二分类任务</a:t>
                </a:r>
                <a:r>
                  <a:rPr lang="en-US" alt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  <a:sym typeface="+mn-ea"/>
                  </a:rPr>
                  <a:t>，</a:t>
                </a:r>
                <a:r>
                  <a:rPr 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  <a:sym typeface="+mn-ea"/>
                  </a:rPr>
                  <a:t>标签翻转率：</a:t>
                </a:r>
                <a14:m>
                  <m:oMath xmlns:m="http://schemas.openxmlformats.org/officeDocument/2006/math"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𝜂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∈[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0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,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1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/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2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zh-CN" altLang="en-US" sz="1200" dirty="0">
                  <a:solidFill>
                    <a:srgbClr val="333333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  <a:p>
                <a:pPr algn="l">
                  <a:lnSpc>
                    <a:spcPct val="200000"/>
                  </a:lnSpc>
                </a:pPr>
                <a:r>
                  <a:rPr lang="zh-CN" altLang="en-US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如果用带噪声校正的损失函数来训练，虽然</a:t>
                </a:r>
                <a:r>
                  <a:rPr lang="zh-CN" altLang="en-US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可以得到无偏估计</a:t>
                </a:r>
                <a:endParaRPr lang="zh-CN" altLang="en-US" sz="1200" dirty="0">
                  <a:solidFill>
                    <a:srgbClr val="333333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  <a:p>
                <a:pPr algn="l">
                  <a:lnSpc>
                    <a:spcPct val="200000"/>
                  </a:lnSpc>
                </a:pPr>
                <a:r>
                  <a:rPr lang="zh-CN" altLang="en-US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但</a:t>
                </a:r>
                <a:r>
                  <a:rPr lang="zh-CN" altLang="en-US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是代价是每个样本的方差会膨胀</a:t>
                </a:r>
                <a:r>
                  <a:rPr lang="en-US" alt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，</a:t>
                </a:r>
                <a:r>
                  <a:rPr 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膨胀</a:t>
                </a:r>
                <a:r>
                  <a:rPr 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因子：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1</m:t>
                        </m:r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2</m:t>
                        </m:r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𝜂</m:t>
                        </m:r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)</m:t>
                        </m:r>
                      </m:e>
                      <m:sup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altLang="zh-CN" sz="12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1200" i="1" dirty="0">
                  <a:solidFill>
                    <a:srgbClr val="333333"/>
                  </a:solidFill>
                  <a:latin typeface="DejaVu Math TeX Gyre" panose="02000503000000000000" charset="0"/>
                  <a:ea typeface="微软雅黑"/>
                  <a:cs typeface="DejaVu Math TeX Gyre" panose="02000503000000000000" charset="0"/>
                </a:endParaRPr>
              </a:p>
              <a:p>
                <a:pPr algn="l">
                  <a:lnSpc>
                    <a:spcPct val="200000"/>
                  </a:lnSpc>
                </a:pPr>
                <a:r>
                  <a:rPr 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𝑄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1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−</m:t>
                    </m:r>
                    <m:r>
                      <a:rPr lang="en-US" altLang="zh-CN" sz="12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𝜂</m:t>
                    </m:r>
                  </m:oMath>
                </a14:m>
                <a:r>
                  <a:rPr lang="en-US" alt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  <a:sym typeface="+mn-ea"/>
                  </a:rPr>
                  <a:t> ，</a:t>
                </a:r>
                <a:r>
                  <a:rPr lang="zh-CN" sz="12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  <a:sym typeface="+mn-ea"/>
                  </a:rPr>
                  <a:t>有效样本量：</a:t>
                </a:r>
                <a:endParaRPr lang="en-US" altLang="zh-CN" sz="1200" dirty="0">
                  <a:solidFill>
                    <a:srgbClr val="333333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</p:txBody>
          </p:sp>
        </mc:Choice>
        <mc:Fallback>
          <p:sp>
            <p:nvSpPr>
              <p:cNvPr id="22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50" y="1969135"/>
                <a:ext cx="4672330" cy="15106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4"/>
          <p:cNvSpPr/>
          <p:nvPr/>
        </p:nvSpPr>
        <p:spPr>
          <a:xfrm>
            <a:off x="6572250" y="3832860"/>
            <a:ext cx="4953000" cy="428625"/>
          </a:xfrm>
          <a:prstGeom prst="rect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5"/>
              <p:cNvSpPr txBox="1"/>
              <p:nvPr/>
            </p:nvSpPr>
            <p:spPr>
              <a:xfrm>
                <a:off x="7565390" y="3961924"/>
                <a:ext cx="2966720" cy="200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宋体" charset="0"/>
                              <a:cs typeface="DejaVu Math TeX Gyre" panose="02000503000000000000" charset="0"/>
                            </a:rPr>
                            <m:t> </m:t>
                          </m:r>
                          <m: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宋体" charset="0"/>
                              <a:cs typeface="DejaVu Math TeX Gyre" panose="02000503000000000000" charset="0"/>
                            </a:rPr>
                            <m:t>𝑒𝑓𝑓</m:t>
                          </m:r>
                        </m:sub>
                      </m:sSub>
                      <m:r>
                        <a:rPr lang="en-US" altLang="zh-CN" sz="1275" b="1" i="1" dirty="0">
                          <a:solidFill>
                            <a:srgbClr val="0033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sz="1275" b="1" i="1" dirty="0">
                          <a:solidFill>
                            <a:srgbClr val="0033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𝑫</m:t>
                      </m:r>
                      <m:r>
                        <a:rPr lang="en-US" altLang="zh-CN" sz="1275" b="1" i="1" dirty="0">
                          <a:solidFill>
                            <a:srgbClr val="0033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·</m:t>
                      </m:r>
                      <m:sSup>
                        <m:sSupPr>
                          <m:ctrlP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(</m:t>
                          </m:r>
                          <m: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𝟐</m:t>
                          </m:r>
                          <m: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𝑸</m:t>
                          </m:r>
                          <m: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−</m:t>
                          </m:r>
                          <m: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𝟏</m:t>
                          </m:r>
                          <m: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275" b="1" i="1" dirty="0">
                          <a:solidFill>
                            <a:srgbClr val="0033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≈</m:t>
                      </m:r>
                      <m:r>
                        <a:rPr lang="en-US" altLang="zh-CN" sz="1275" b="1" i="1" dirty="0">
                          <a:solidFill>
                            <a:srgbClr val="0033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𝑫</m:t>
                      </m:r>
                      <m:sSup>
                        <m:sSupPr>
                          <m:ctrlP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·</m:t>
                          </m:r>
                          <m: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𝑸</m:t>
                          </m:r>
                        </m:e>
                        <m:sup>
                          <m:r>
                            <a:rPr lang="en-US" altLang="zh-CN" sz="1275" b="1" i="1" dirty="0">
                              <a:solidFill>
                                <a:srgbClr val="003366"/>
                              </a:solidFill>
                              <a:latin typeface="DejaVu Math TeX Gyre" panose="02000503000000000000" charset="0"/>
                              <a:ea typeface="微软雅黑"/>
                              <a:cs typeface="DejaVu Math TeX Gyre" panose="02000503000000000000" charset="0"/>
                            </a:rPr>
                            <m:t>𝜸</m:t>
                          </m:r>
                        </m:sup>
                      </m:sSup>
                      <m:r>
                        <a:rPr lang="en-US" altLang="zh-CN" sz="1275" b="1" i="1" dirty="0">
                          <a:solidFill>
                            <a:srgbClr val="0033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 (</m:t>
                      </m:r>
                      <m:r>
                        <a:rPr lang="en-US" altLang="zh-CN" sz="1275" b="1" i="1" dirty="0">
                          <a:solidFill>
                            <a:srgbClr val="0033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𝜸</m:t>
                      </m:r>
                      <m:r>
                        <a:rPr lang="en-US" altLang="zh-CN" sz="1275" b="1" i="1" dirty="0">
                          <a:solidFill>
                            <a:srgbClr val="0033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sz="1275" b="1" i="1" dirty="0">
                          <a:solidFill>
                            <a:srgbClr val="0033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𝟐</m:t>
                      </m:r>
                      <m:r>
                        <a:rPr lang="en-US" altLang="zh-CN" sz="1275" b="1" i="1" dirty="0">
                          <a:solidFill>
                            <a:srgbClr val="003366"/>
                          </a:solidFill>
                          <a:latin typeface="DejaVu Math TeX Gyre" panose="02000503000000000000" charset="0"/>
                          <a:ea typeface="微软雅黑"/>
                          <a:cs typeface="DejaVu Math TeX Gyre" panose="02000503000000000000" charset="0"/>
                        </a:rPr>
                        <m:t>)</m:t>
                      </m:r>
                    </m:oMath>
                  </m:oMathPara>
                </a14:m>
                <a:endParaRPr lang="zh-CN" sz="1275" b="1" dirty="0">
                  <a:solidFill>
                    <a:srgbClr val="003366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</p:txBody>
          </p:sp>
        </mc:Choice>
        <mc:Fallback>
          <p:sp>
            <p:nvSpPr>
              <p:cNvPr id="25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390" y="3961924"/>
                <a:ext cx="2966720" cy="200660"/>
              </a:xfrm>
              <a:prstGeom prst="rect">
                <a:avLst/>
              </a:prstGeom>
              <a:blipFill rotWithShape="1">
                <a:blip r:embed="rId5"/>
                <a:stretch>
                  <a:fillRect t="-79" r="-4580" b="-100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6"/>
          <p:cNvSpPr/>
          <p:nvPr/>
        </p:nvSpPr>
        <p:spPr>
          <a:xfrm>
            <a:off x="381000" y="4688205"/>
            <a:ext cx="11430000" cy="1492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381000" y="4688205"/>
            <a:ext cx="11430000" cy="571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459923" y="4915376"/>
            <a:ext cx="3272155" cy="2197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命题 1：统一视角</a:t>
            </a:r>
            <a:r>
              <a:rPr lang="en-US" altLang="zh-CN" sz="1425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——</a:t>
            </a:r>
            <a:r>
              <a:rPr lang="zh-CN" sz="1425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互信息 + 信息瓶颈</a:t>
            </a:r>
            <a:endParaRPr lang="zh-CN" sz="1425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9"/>
              <p:cNvSpPr txBox="1"/>
              <p:nvPr/>
            </p:nvSpPr>
            <p:spPr>
              <a:xfrm>
                <a:off x="651510" y="5320665"/>
                <a:ext cx="5142230" cy="2330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F0FE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• 设 </a:t>
                </a:r>
                <a14:m>
                  <m:oMath xmlns:m="http://schemas.openxmlformats.org/officeDocument/2006/math"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𝐼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𝑋</m:t>
                        </m:r>
                      </m:e>
                    </m:acc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;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𝑍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)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𝜌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𝑄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)·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𝐼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𝑋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;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𝑍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zh-CN" sz="1200" dirty="0">
                    <a:solidFill>
                      <a:srgbClr val="E8F0FE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（噪声信道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zh-CN" sz="1200" dirty="0">
                    <a:solidFill>
                      <a:srgbClr val="E8F0FE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将互信息按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200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ρ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𝑄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zh-CN" sz="1200" dirty="0">
                    <a:solidFill>
                      <a:srgbClr val="E8F0FE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 比例缩减）</a:t>
                </a:r>
                <a:endParaRPr lang="zh-CN" sz="1200" dirty="0">
                  <a:solidFill>
                    <a:srgbClr val="E8F0FE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</p:txBody>
          </p:sp>
        </mc:Choice>
        <mc:Fallback>
          <p:sp>
            <p:nvSpPr>
              <p:cNvPr id="29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10" y="5320665"/>
                <a:ext cx="5142230" cy="23304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30"/>
              <p:cNvSpPr txBox="1"/>
              <p:nvPr/>
            </p:nvSpPr>
            <p:spPr>
              <a:xfrm>
                <a:off x="651510" y="5553710"/>
                <a:ext cx="2377440" cy="227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F0FE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• 损失遵循：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𝐷</m:t>
                        </m:r>
                      </m:sub>
                    </m:sSub>
                    <m:r>
                      <a:rPr lang="zh-CN" sz="1200" dirty="0">
                        <a:solidFill>
                          <a:srgbClr val="E8F0FE"/>
                        </a:solidFill>
                        <a:latin typeface="Arial" panose="020B0704020202020204"/>
                        <a:ea typeface="微软雅黑"/>
                        <a:cs typeface="Arial" panose="020B0704020202020204"/>
                        <a:sym typeface="+mn-ea"/>
                      </a:rPr>
                      <m:t>∝</m:t>
                    </m:r>
                    <m:r>
                      <a:rPr lang="en-US" altLang="zh-CN" sz="1200" dirty="0">
                        <a:solidFill>
                          <a:srgbClr val="E8F0FE"/>
                        </a:solidFill>
                        <a:latin typeface="Arial" panose="020B0704020202020204"/>
                        <a:ea typeface="微软雅黑"/>
                        <a:cs typeface="Arial" panose="020B0704020202020204"/>
                        <a:sym typeface="+mn-ea"/>
                      </a:rPr>
                      <m:t> </m:t>
                    </m:r>
                    <m:r>
                      <a:rPr lang="en-US" altLang="zh-CN" sz="1200" dirty="0">
                        <a:solidFill>
                          <a:srgbClr val="E8F0FE"/>
                        </a:solidFill>
                        <a:latin typeface="Arial" panose="020B0704020202020204"/>
                        <a:ea typeface="微软雅黑"/>
                        <a:cs typeface="Arial" panose="020B0704020202020204"/>
                        <a:sym typeface="+mn-ea"/>
                      </a:rPr>
                      <m:t>(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𝐷</m:t>
                    </m:r>
                    <m:r>
                      <a:rPr lang="en-US" altLang="zh-CN" sz="1200" i="1" dirty="0">
                        <a:solidFill>
                          <a:srgbClr val="E8F0FE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·</m:t>
                    </m:r>
                    <m:sSup>
                      <m:sSupPr>
                        <m:ctrlP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𝐼</m:t>
                        </m:r>
                        <m: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(</m:t>
                        </m:r>
                        <m:acc>
                          <m:accPr>
                            <m:chr m:val="̃"/>
                            <m:ctrlPr>
                              <a:rPr lang="en-US" altLang="zh-CN" sz="1200" i="1" dirty="0">
                                <a:solidFill>
                                  <a:srgbClr val="E8F0FE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</m:ctrlPr>
                          </m:accPr>
                          <m:e>
                            <m:r>
                              <a:rPr lang="en-US" altLang="zh-CN" sz="1200" i="1" dirty="0">
                                <a:solidFill>
                                  <a:srgbClr val="E8F0FE"/>
                                </a:solidFill>
                                <a:latin typeface="DejaVu Math TeX Gyre" panose="02000503000000000000" charset="0"/>
                                <a:ea typeface="微软雅黑"/>
                                <a:cs typeface="DejaVu Math TeX Gyre" panose="02000503000000000000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;</m:t>
                        </m:r>
                        <m: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𝑍</m:t>
                        </m:r>
                        <m: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))</m:t>
                        </m:r>
                      </m:e>
                      <m:sup>
                        <m: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altLang="zh-CN" sz="1200" i="1" dirty="0">
                            <a:solidFill>
                              <a:srgbClr val="E8F0FE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𝛽</m:t>
                        </m:r>
                      </m:sup>
                    </m:sSup>
                  </m:oMath>
                </a14:m>
                <a:endParaRPr lang="zh-CN" sz="1200" dirty="0">
                  <a:solidFill>
                    <a:srgbClr val="E8F0FE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</p:txBody>
          </p:sp>
        </mc:Choice>
        <mc:Fallback>
          <p:sp>
            <p:nvSpPr>
              <p:cNvPr id="30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10" y="5553710"/>
                <a:ext cx="2377440" cy="227330"/>
              </a:xfrm>
              <a:prstGeom prst="rect">
                <a:avLst/>
              </a:prstGeom>
              <a:blipFill rotWithShape="1">
                <a:blip r:embed="rId7"/>
                <a:stretch>
                  <a:fillRect r="-14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1"/>
          <p:cNvSpPr txBox="1"/>
          <p:nvPr/>
        </p:nvSpPr>
        <p:spPr>
          <a:xfrm>
            <a:off x="651510" y="5854065"/>
            <a:ext cx="315087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• 代入，重整常数，得出改进的</a:t>
            </a:r>
            <a:r>
              <a:rPr lang="en-US" altLang="zh-CN" sz="1200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Scaling law</a:t>
            </a:r>
            <a:r>
              <a:rPr lang="zh-CN" sz="1200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公式</a:t>
            </a:r>
            <a:endParaRPr lang="zh-CN" sz="1200" dirty="0">
              <a:solidFill>
                <a:srgbClr val="E8F0FE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0F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69570" y="6522720"/>
            <a:ext cx="1527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论文 Appendix A: Proofs</a:t>
            </a:r>
            <a:endParaRPr lang="zh-CN" sz="90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6289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06</a:t>
            </a:r>
            <a:endParaRPr lang="zh-CN" sz="105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82121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实验设计：126 次受控实验</a:t>
            </a:r>
            <a:endParaRPr lang="zh-CN" sz="210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5999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两个任务 × 三种数据规模 × 七种质量水平 × 三次复现 = 126 次独立训练运行</a:t>
            </a:r>
            <a:endParaRPr lang="zh-CN" sz="135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5524500" cy="1905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55245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797599" y="1513046"/>
            <a:ext cx="269130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任务一：NMT 神经机器翻译</a:t>
            </a:r>
            <a:endParaRPr lang="zh-CN" sz="1425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51510" y="1870710"/>
            <a:ext cx="307530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英 → 德 翻译，ParaCrawl v8 (101M 句子对)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51510" y="2137410"/>
            <a:ext cx="239014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模型：8 层 GPT Neo，133M 参数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51510" y="2404110"/>
            <a:ext cx="30800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BPE Tokenizer，vocab size = 32000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51510" y="2670810"/>
            <a:ext cx="28696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数据规模：0.5M / 1M / 2M 句子对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6286500" y="1333500"/>
            <a:ext cx="5524500" cy="1905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286500" y="1333500"/>
            <a:ext cx="55245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703099" y="1513046"/>
            <a:ext cx="269130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任务二：CLM 因果语言建模</a:t>
            </a:r>
            <a:endParaRPr lang="zh-CN" sz="1425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557010" y="1870710"/>
            <a:ext cx="15640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C4 (en) 纯净子集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557010" y="2137410"/>
            <a:ext cx="27557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模型：8 层 Llama 3，hidden=512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557010" y="2404110"/>
            <a:ext cx="21160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Llama 3.2-1B Tokenizer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557010" y="2670810"/>
            <a:ext cx="28609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数据规模：100M / 1B / 10B Tokens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4" name="Rectangle 24"/>
          <p:cNvSpPr/>
          <p:nvPr/>
        </p:nvSpPr>
        <p:spPr>
          <a:xfrm>
            <a:off x="381000" y="3429000"/>
            <a:ext cx="11430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49605" y="36166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实验矩阵</a:t>
            </a:r>
            <a:endParaRPr lang="zh-CN" sz="135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941399" y="3568065"/>
            <a:ext cx="2309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2 × 3 × 7 × 3 = 126</a:t>
            </a:r>
            <a:endParaRPr lang="zh-CN" sz="1800" b="1" dirty="0">
              <a:solidFill>
                <a:srgbClr val="E8F0FE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860608" y="4030028"/>
            <a:ext cx="247078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 val="7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任务 × 数据规模 × 质量水平 × 复现种子</a:t>
            </a:r>
            <a:r>
              <a:rPr lang="zh-CN" sz="1050" dirty="0">
                <a:solidFill>
                  <a:srgbClr val="FFFFFF">
                    <a:alpha val="7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数</a:t>
            </a:r>
            <a:endParaRPr lang="zh-CN" sz="1050" dirty="0">
              <a:solidFill>
                <a:srgbClr val="FFFFFF">
                  <a:alpha val="70000"/>
                </a:srgbClr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823563" y="4577239"/>
            <a:ext cx="25448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7 个质量水平：合成噪声注入</a:t>
            </a:r>
            <a:endParaRPr lang="zh-CN" sz="1275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9" name="Rectangle 29"/>
          <p:cNvSpPr/>
          <p:nvPr/>
        </p:nvSpPr>
        <p:spPr>
          <a:xfrm>
            <a:off x="666750" y="4857750"/>
            <a:ext cx="10858500" cy="333375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38212" y="4964906"/>
            <a:ext cx="395605" cy="173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 panose="020B0704020202020204" pitchFamily="34" charset="0"/>
                <a:ea typeface="微软雅黑"/>
                <a:cs typeface="Arial" panose="020B0704020202020204" pitchFamily="34" charset="0"/>
              </a:rPr>
              <a:t>Q=1.0</a:t>
            </a:r>
            <a:endParaRPr lang="zh-CN" sz="1125" b="1" dirty="0">
              <a:solidFill>
                <a:srgbClr val="333333"/>
              </a:solidFill>
              <a:latin typeface="Arial" panose="020B0704020202020204" pitchFamily="34" charset="0"/>
              <a:ea typeface="微软雅黑"/>
              <a:cs typeface="Arial" panose="020B0704020202020204" pitchFamily="34" charset="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081212" y="4964906"/>
            <a:ext cx="513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Q=0.9</a:t>
            </a:r>
            <a:endParaRPr lang="zh-CN" sz="1125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224212" y="4964906"/>
            <a:ext cx="513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Q=0.8</a:t>
            </a:r>
            <a:endParaRPr lang="zh-CN" sz="1125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367212" y="4964906"/>
            <a:ext cx="6036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Q=0.75</a:t>
            </a:r>
            <a:endParaRPr lang="zh-CN" sz="1125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510212" y="4964906"/>
            <a:ext cx="513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Q=0.7</a:t>
            </a:r>
            <a:endParaRPr lang="zh-CN" sz="1125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653212" y="4964906"/>
            <a:ext cx="513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Q=0.6</a:t>
            </a:r>
            <a:endParaRPr lang="zh-CN" sz="1125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796212" y="4964906"/>
            <a:ext cx="5375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chemeClr val="tx1"/>
                </a:solidFill>
                <a:latin typeface="Arial" panose="020B0704020202020204"/>
                <a:ea typeface="微软雅黑"/>
                <a:cs typeface="Arial" panose="020B0704020202020204"/>
              </a:rPr>
              <a:t>Q=0.5</a:t>
            </a:r>
            <a:endParaRPr lang="zh-CN" sz="1125" b="1" dirty="0">
              <a:solidFill>
                <a:schemeClr val="tx1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511665" y="497300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i="1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η=0%→50%噪声样本</a:t>
            </a:r>
            <a:endParaRPr lang="zh-CN" sz="1050" i="1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8" name="Rectangle 38"/>
          <p:cNvSpPr/>
          <p:nvPr/>
        </p:nvSpPr>
        <p:spPr>
          <a:xfrm>
            <a:off x="381000" y="5381625"/>
            <a:ext cx="11430000" cy="77279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53415" y="5567362"/>
            <a:ext cx="647509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NMT 噪声：目标句 50% token 替换为 pad</a:t>
            </a:r>
            <a:r>
              <a:rPr lang="en-US" altLang="zh-CN" sz="12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ding</a:t>
            </a:r>
            <a:r>
              <a:rPr lang="zh-CN" sz="12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 ；CLM 噪声：序列中 15% token 替换为随机词汇</a:t>
            </a:r>
            <a:endParaRPr lang="zh-CN" sz="120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40"/>
              <p:cNvSpPr txBox="1"/>
              <p:nvPr/>
            </p:nvSpPr>
            <p:spPr>
              <a:xfrm>
                <a:off x="653415" y="5844857"/>
                <a:ext cx="422148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嵌套子集策略：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solidFill>
                              <a:srgbClr val="6666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6666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6666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0</m:t>
                        </m:r>
                        <m:r>
                          <a:rPr lang="en-US" altLang="zh-CN" sz="1200" i="1" dirty="0">
                            <a:solidFill>
                              <a:srgbClr val="6666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.</m:t>
                        </m:r>
                        <m:r>
                          <a:rPr lang="en-US" altLang="zh-CN" sz="1200" i="1" dirty="0">
                            <a:solidFill>
                              <a:srgbClr val="666666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  <m:r>
                          <a:rPr lang="en-US" altLang="zh-CN" sz="1200" i="1" dirty="0">
                            <a:solidFill>
                              <a:srgbClr val="666666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𝐵</m:t>
                        </m:r>
                      </m:sub>
                    </m:sSub>
                    <m:r>
                      <a:rPr lang="en-US" altLang="zh-CN" sz="1200" i="1" dirty="0">
                        <a:solidFill>
                          <a:srgbClr val="6666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⊆</m:t>
                    </m:r>
                    <m:sSub>
                      <m:sSubPr>
                        <m:ctrlPr>
                          <a:rPr lang="en-US" altLang="zh-CN" sz="1200" i="1" dirty="0">
                            <a:solidFill>
                              <a:srgbClr val="6666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6666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666666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  <m:r>
                          <a:rPr lang="en-US" altLang="zh-CN" sz="1200" i="1" dirty="0">
                            <a:solidFill>
                              <a:srgbClr val="666666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𝐵</m:t>
                        </m:r>
                      </m:sub>
                    </m:sSub>
                    <m:r>
                      <a:rPr lang="en-US" altLang="zh-CN" sz="1200" i="1" dirty="0">
                        <a:solidFill>
                          <a:srgbClr val="666666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</a:rPr>
                      <m:t>⊆</m:t>
                    </m:r>
                    <m:sSub>
                      <m:sSubPr>
                        <m:ctrlPr>
                          <a:rPr lang="en-US" altLang="zh-CN" sz="1200" i="1" dirty="0">
                            <a:solidFill>
                              <a:srgbClr val="6666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rgbClr val="666666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rgbClr val="666666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10</m:t>
                        </m:r>
                        <m:r>
                          <a:rPr lang="en-US" altLang="zh-CN" sz="1200" i="1" dirty="0">
                            <a:solidFill>
                              <a:srgbClr val="666666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sz="1200" dirty="0">
                    <a:solidFill>
                      <a:srgbClr val="666666"/>
                    </a:solidFill>
                    <a:latin typeface="Arial" panose="020B0704020202020204"/>
                    <a:ea typeface="微软雅黑"/>
                    <a:cs typeface="Arial" panose="020B0704020202020204"/>
                  </a:rPr>
                  <a:t>（保证数据分布一致性）</a:t>
                </a:r>
                <a:endParaRPr lang="zh-CN" sz="1200" dirty="0">
                  <a:solidFill>
                    <a:srgbClr val="666666"/>
                  </a:solidFill>
                  <a:latin typeface="Arial" panose="020B0704020202020204"/>
                  <a:ea typeface="微软雅黑"/>
                  <a:cs typeface="Arial" panose="020B0704020202020204"/>
                </a:endParaRPr>
              </a:p>
            </p:txBody>
          </p:sp>
        </mc:Choice>
        <mc:Fallback>
          <p:sp>
            <p:nvSpPr>
              <p:cNvPr id="40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15" y="5844857"/>
                <a:ext cx="4221480" cy="184150"/>
              </a:xfrm>
              <a:prstGeom prst="rect">
                <a:avLst/>
              </a:prstGeom>
              <a:blipFill rotWithShape="1">
                <a:blip r:embed="rId1"/>
                <a:stretch>
                  <a:fillRect t="-2931" r="-1790" b="17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Line 4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0FE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69570" y="6522720"/>
            <a:ext cx="23625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论文 Section 5: Experimental Studies</a:t>
            </a:r>
            <a:endParaRPr lang="zh-CN" sz="90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6289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07</a:t>
            </a:r>
            <a:endParaRPr lang="zh-CN" sz="105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1915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关键发现：γ 远小于理论预期</a:t>
            </a:r>
            <a:endParaRPr lang="zh-CN" sz="210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6338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理论的 γ ≥ 1 vs 实测的 γ ≈ 0.17~0.40 —— 模型比想象中鲁棒得多</a:t>
            </a:r>
            <a:endParaRPr lang="zh-CN" sz="135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381000" y="1574800"/>
            <a:ext cx="5524500" cy="231711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1574800"/>
            <a:ext cx="55245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684655" y="1762442"/>
            <a:ext cx="291719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质量感知 Scaling Law 参数估计</a:t>
            </a:r>
            <a:endParaRPr lang="zh-CN" sz="16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666750" y="2098675"/>
            <a:ext cx="4953000" cy="285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481455" y="2183924"/>
            <a:ext cx="275590" cy="1657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任务</a:t>
            </a:r>
            <a:endParaRPr lang="zh-CN" sz="108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814955" y="2183924"/>
            <a:ext cx="275590" cy="1657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方法</a:t>
            </a:r>
            <a:endParaRPr lang="zh-CN" sz="108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958590" y="2183924"/>
            <a:ext cx="83820" cy="1657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β</a:t>
            </a:r>
            <a:endParaRPr lang="zh-CN" sz="108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819650" y="2183924"/>
            <a:ext cx="76200" cy="1657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0" b="1" dirty="0">
                <a:solidFill>
                  <a:srgbClr val="CC0000"/>
                </a:solidFill>
                <a:latin typeface="Arial" panose="020B0704020202020204"/>
                <a:ea typeface="微软雅黑"/>
                <a:cs typeface="Arial" panose="020B0704020202020204"/>
              </a:rPr>
              <a:t>γ</a:t>
            </a:r>
            <a:endParaRPr lang="zh-CN" sz="1080" b="1" dirty="0">
              <a:solidFill>
                <a:srgbClr val="CC0000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666750" y="2393950"/>
            <a:ext cx="4953000" cy="257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454150" y="2452052"/>
            <a:ext cx="3302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NMT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745740" y="2452052"/>
            <a:ext cx="41402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Huber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810317" y="2452052"/>
            <a:ext cx="38036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0.250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667568" y="2452052"/>
            <a:ext cx="38036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C0000"/>
                </a:solidFill>
                <a:latin typeface="Arial" panose="020B0704020202020204"/>
                <a:ea typeface="微软雅黑"/>
                <a:cs typeface="Arial" panose="020B0704020202020204"/>
              </a:rPr>
              <a:t>0.173</a:t>
            </a:r>
            <a:endParaRPr lang="zh-CN" sz="1200" b="1" dirty="0">
              <a:solidFill>
                <a:srgbClr val="CC0000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66750" y="2660650"/>
            <a:ext cx="4953000" cy="2571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458595" y="2718752"/>
            <a:ext cx="3213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CLM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745740" y="2718752"/>
            <a:ext cx="41402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Huber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3810317" y="2718752"/>
            <a:ext cx="38036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0.396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667568" y="2718752"/>
            <a:ext cx="38036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C0000"/>
                </a:solidFill>
                <a:latin typeface="Arial" panose="020B0704020202020204"/>
                <a:ea typeface="微软雅黑"/>
                <a:cs typeface="Arial" panose="020B0704020202020204"/>
              </a:rPr>
              <a:t>0.401</a:t>
            </a:r>
            <a:endParaRPr lang="zh-CN" sz="1200" b="1" dirty="0">
              <a:solidFill>
                <a:srgbClr val="CC0000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8" name="Rectangle 28"/>
          <p:cNvSpPr/>
          <p:nvPr/>
        </p:nvSpPr>
        <p:spPr>
          <a:xfrm>
            <a:off x="666750" y="2927350"/>
            <a:ext cx="4953000" cy="2571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207769" y="2984024"/>
            <a:ext cx="822960" cy="1657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0" i="1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高斯噪声理论</a:t>
            </a:r>
            <a:endParaRPr lang="zh-CN" sz="1080" i="1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758440" y="2984024"/>
            <a:ext cx="388620" cy="1657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0" i="1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引理 1</a:t>
            </a:r>
            <a:endParaRPr lang="zh-CN" sz="1080" i="1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762500" y="2984024"/>
            <a:ext cx="190500" cy="1657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1.0</a:t>
            </a:r>
            <a:endParaRPr lang="zh-CN" sz="108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666750" y="3194050"/>
            <a:ext cx="4953000" cy="2571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207769" y="3250724"/>
            <a:ext cx="822960" cy="1657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0" i="1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标签噪声理论</a:t>
            </a:r>
            <a:endParaRPr lang="zh-CN" sz="1080" i="1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758440" y="3250724"/>
            <a:ext cx="388620" cy="1657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0" i="1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引理 2</a:t>
            </a:r>
            <a:endParaRPr lang="zh-CN" sz="1080" i="1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4762501" y="3250724"/>
            <a:ext cx="190500" cy="1657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2.0</a:t>
            </a:r>
            <a:endParaRPr lang="zh-CN" sz="108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286500" y="1574800"/>
            <a:ext cx="5524500" cy="231711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p>
            <a:endParaRPr lang="zh-CN" altLang="en-US" sz="2000"/>
          </a:p>
        </p:txBody>
      </p:sp>
      <p:sp>
        <p:nvSpPr>
          <p:cNvPr id="38" name="Rectangle 38"/>
          <p:cNvSpPr/>
          <p:nvPr/>
        </p:nvSpPr>
        <p:spPr>
          <a:xfrm>
            <a:off x="6286500" y="1574800"/>
            <a:ext cx="5524500" cy="571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386762" y="1762442"/>
            <a:ext cx="1323975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γ 实测 vs 理论</a:t>
            </a:r>
            <a:endParaRPr lang="zh-CN" sz="16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0" name="Line 40"/>
          <p:cNvSpPr/>
          <p:nvPr/>
        </p:nvSpPr>
        <p:spPr>
          <a:xfrm>
            <a:off x="7239000" y="3366135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9525">
            <a:solidFill>
              <a:srgbClr val="333333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6989445" y="3316605"/>
            <a:ext cx="70485" cy="1536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0</a:t>
            </a:r>
            <a:endParaRPr lang="zh-CN" sz="100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2" name="Line 42"/>
          <p:cNvSpPr/>
          <p:nvPr/>
        </p:nvSpPr>
        <p:spPr>
          <a:xfrm>
            <a:off x="7200900" y="3080385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895148" y="3038951"/>
            <a:ext cx="1638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3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0.5</a:t>
            </a:r>
            <a:endParaRPr lang="zh-CN" sz="93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4" name="Line 44"/>
          <p:cNvSpPr/>
          <p:nvPr/>
        </p:nvSpPr>
        <p:spPr>
          <a:xfrm>
            <a:off x="7200900" y="2794635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895148" y="2753201"/>
            <a:ext cx="1638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3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1.0</a:t>
            </a:r>
            <a:endParaRPr lang="zh-CN" sz="93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6" name="Line 46"/>
          <p:cNvSpPr/>
          <p:nvPr/>
        </p:nvSpPr>
        <p:spPr>
          <a:xfrm>
            <a:off x="7200900" y="2508885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895148" y="2467451"/>
            <a:ext cx="1638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3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1.5</a:t>
            </a:r>
            <a:endParaRPr lang="zh-CN" sz="93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8" name="Line 48"/>
          <p:cNvSpPr/>
          <p:nvPr/>
        </p:nvSpPr>
        <p:spPr>
          <a:xfrm>
            <a:off x="7200900" y="2223135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895148" y="2181701"/>
            <a:ext cx="1638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3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2.0</a:t>
            </a:r>
            <a:endParaRPr lang="zh-CN" sz="93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7451090" y="2966085"/>
            <a:ext cx="714375" cy="400050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7669848" y="3214053"/>
            <a:ext cx="267335" cy="130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γ=1.0</a:t>
            </a:r>
            <a:endParaRPr lang="zh-CN" sz="85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52" name="Rectangle 52"/>
          <p:cNvSpPr/>
          <p:nvPr/>
        </p:nvSpPr>
        <p:spPr>
          <a:xfrm>
            <a:off x="8411845" y="2394585"/>
            <a:ext cx="714375" cy="971550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630603" y="3214053"/>
            <a:ext cx="267335" cy="130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γ=2.0</a:t>
            </a:r>
            <a:endParaRPr lang="zh-CN" sz="85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54" name="Rectangle 54"/>
          <p:cNvSpPr/>
          <p:nvPr/>
        </p:nvSpPr>
        <p:spPr>
          <a:xfrm>
            <a:off x="9371330" y="3194685"/>
            <a:ext cx="714375" cy="1714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556750" y="3237547"/>
            <a:ext cx="334010" cy="130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5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γ=</a:t>
            </a:r>
            <a:r>
              <a:rPr lang="zh-CN" sz="85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0.17</a:t>
            </a:r>
            <a:endParaRPr lang="zh-CN" sz="85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56" name="Rectangle 56"/>
          <p:cNvSpPr/>
          <p:nvPr/>
        </p:nvSpPr>
        <p:spPr>
          <a:xfrm>
            <a:off x="10342880" y="2908935"/>
            <a:ext cx="714375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10528300" y="3237547"/>
            <a:ext cx="334010" cy="130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5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γ=</a:t>
            </a:r>
            <a:r>
              <a:rPr lang="zh-CN" sz="85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0.40</a:t>
            </a:r>
            <a:endParaRPr lang="zh-CN" sz="85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58" name="Rectangle 58"/>
          <p:cNvSpPr/>
          <p:nvPr/>
        </p:nvSpPr>
        <p:spPr>
          <a:xfrm>
            <a:off x="7143750" y="3509010"/>
            <a:ext cx="133350" cy="133350"/>
          </a:xfrm>
          <a:prstGeom prst="rect">
            <a:avLst/>
          </a:prstGeom>
          <a:solidFill>
            <a:srgbClr val="003366">
              <a:alpha val="20000"/>
            </a:srgbClr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323772" y="3534251"/>
            <a:ext cx="47244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理论预测</a:t>
            </a:r>
            <a:endParaRPr lang="zh-CN" sz="93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60" name="Rectangle 60"/>
          <p:cNvSpPr/>
          <p:nvPr/>
        </p:nvSpPr>
        <p:spPr>
          <a:xfrm>
            <a:off x="8096250" y="3509010"/>
            <a:ext cx="133350" cy="1333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8276272" y="3534251"/>
            <a:ext cx="4921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NMT实测</a:t>
            </a:r>
            <a:endParaRPr lang="zh-CN" sz="93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62" name="Rectangle 62"/>
          <p:cNvSpPr/>
          <p:nvPr/>
        </p:nvSpPr>
        <p:spPr>
          <a:xfrm>
            <a:off x="9048750" y="3509010"/>
            <a:ext cx="133350" cy="1333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9228772" y="3534251"/>
            <a:ext cx="48514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CLM实测</a:t>
            </a:r>
            <a:endParaRPr lang="zh-CN" sz="93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64" name="Rectangle 64"/>
          <p:cNvSpPr/>
          <p:nvPr/>
        </p:nvSpPr>
        <p:spPr>
          <a:xfrm>
            <a:off x="381000" y="4238625"/>
            <a:ext cx="11430000" cy="1661795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179444" y="4441508"/>
            <a:ext cx="583311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γ ≪ 1 说明：模型对数据噪声的鲁棒性远超理论预期</a:t>
            </a:r>
            <a:endParaRPr lang="zh-CN" sz="20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3154679" y="4946650"/>
            <a:ext cx="589280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这意味着：即使数据被</a:t>
            </a:r>
            <a:r>
              <a:rPr 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大量污染，损失增长速度也远慢于理论预测</a:t>
            </a:r>
            <a:endParaRPr lang="zh-CN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2946400" y="5388451"/>
            <a:ext cx="629920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实践意义：轻度噪声对数据的影响比想象中小</a:t>
            </a:r>
            <a:r>
              <a:rPr lang="zh-CN" sz="16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很多，</a:t>
            </a:r>
            <a:r>
              <a:rPr lang="zh-CN" sz="160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数据不必过度清洗</a:t>
            </a:r>
            <a:endParaRPr lang="zh-CN" sz="160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68" name="Line 68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0FE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369570" y="6522720"/>
            <a:ext cx="16462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论文 Table 2 + Section 5.5</a:t>
            </a:r>
            <a:endParaRPr lang="zh-CN" sz="90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116289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08</a:t>
            </a:r>
            <a:endParaRPr lang="zh-CN" sz="105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7262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γ ≪ 1 意味着什么？</a:t>
            </a:r>
            <a:endParaRPr lang="zh-CN" sz="210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68630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自然语言的冗余性——部分 Token 损坏，上下文仍在传递信息</a:t>
            </a:r>
            <a:endParaRPr lang="zh-CN" sz="135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3619500" cy="28575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1381125"/>
            <a:ext cx="36195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26462" y="1616392"/>
            <a:ext cx="19285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🔬 为何会出现 γ ≪ 1？</a:t>
            </a:r>
            <a:endParaRPr lang="zh-CN" sz="135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65200" y="2013585"/>
            <a:ext cx="23000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语言天然有冗余性——语法、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65200" y="2261235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共现模式、词序都传递信息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65200" y="2604135"/>
            <a:ext cx="23351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即使 30% token 损坏，模型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65200" y="2851785"/>
            <a:ext cx="19758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仍能从上下文"猜出"含义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65200" y="3194685"/>
            <a:ext cx="22475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这与 PAC 学习/信道容量的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65200" y="3442335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独立样本假设有本质不同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4286250" y="1381125"/>
            <a:ext cx="3619500" cy="28575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4286250" y="1381125"/>
            <a:ext cx="3619500" cy="571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193819" y="1616392"/>
            <a:ext cx="1804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⚡ NMT vs CLM 差异</a:t>
            </a:r>
            <a:endParaRPr lang="zh-CN" sz="135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858385" y="2013585"/>
            <a:ext cx="19846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NMT (γ=0.17, 更鲁棒)：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858385" y="2280285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跨语言对齐可绕过目标端噪声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858385" y="2546985"/>
            <a:ext cx="17743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源句提供"校验"信号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858385" y="2889885"/>
            <a:ext cx="20284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CLM (γ=0.40, 更敏感)：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858385" y="3156585"/>
            <a:ext cx="25191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噪声 Token 直接破坏条件分布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858385" y="3423285"/>
            <a:ext cx="21073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局部依赖被虚假模式误导</a:t>
            </a:r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381000" y="4476750"/>
            <a:ext cx="11430000" cy="1047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81000" y="4476750"/>
            <a:ext cx="11430000" cy="571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903556" y="4703921"/>
            <a:ext cx="438488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iso-loss 等高线：质量 vs 数量的可计算替代</a:t>
            </a:r>
            <a:endParaRPr lang="zh-CN" sz="1425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353752" y="5069681"/>
            <a:ext cx="5484495" cy="173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提升 Q 或扩大 D 都在同一条等高线上 → 可以精确计算"提升多少 Q 等于</a:t>
            </a:r>
            <a:r>
              <a:rPr lang="zh-CN" sz="1125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节省多少数据"</a:t>
            </a:r>
            <a:endParaRPr lang="en-US" altLang="zh-CN" sz="1125" dirty="0">
              <a:solidFill>
                <a:srgbClr val="E8F0FE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1" name="Line 4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0FE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69570" y="6522720"/>
            <a:ext cx="20931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论文 Section 5.5 + Fig. 2 &amp; Fig. 3</a:t>
            </a:r>
            <a:endParaRPr lang="zh-CN" sz="90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6289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09</a:t>
            </a:r>
            <a:endParaRPr lang="zh-CN" sz="105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8630" y="1393190"/>
            <a:ext cx="3822065" cy="28060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06934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补充实验</a:t>
            </a:r>
            <a:endParaRPr lang="zh-CN" sz="210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240030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3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多项验证实验支持结论的可靠性</a:t>
            </a:r>
            <a:endParaRPr lang="zh-CN" altLang="en-US" sz="135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3619500" cy="468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81125"/>
            <a:ext cx="3619500" cy="66675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44893" y="2084546"/>
            <a:ext cx="2291715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噪声模型的语义验证</a:t>
            </a:r>
            <a:endParaRPr lang="zh-CN" altLang="en-US" sz="20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3575" y="3026410"/>
            <a:ext cx="2996565" cy="1477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333333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合成噪声与语义偏移之间呈现严格的单调关系</a:t>
            </a:r>
            <a:r>
              <a:rPr lang="en-US" altLang="zh-CN" sz="1600" dirty="0">
                <a:solidFill>
                  <a:srgbClr val="333333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 sz="1600" dirty="0">
                <a:solidFill>
                  <a:srgbClr val="333333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余弦相似度随 </a:t>
            </a:r>
            <a:r>
              <a:rPr lang="en-US" altLang="zh-CN" sz="1600" dirty="0">
                <a:solidFill>
                  <a:srgbClr val="333333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Q </a:t>
            </a:r>
            <a:r>
              <a:rPr lang="zh-CN" altLang="en-US" sz="1600" dirty="0">
                <a:solidFill>
                  <a:srgbClr val="333333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线性变化，证明合成噪声可以有效替代真实</a:t>
            </a:r>
            <a:r>
              <a:rPr lang="zh-CN" altLang="en-US" sz="1600" dirty="0">
                <a:solidFill>
                  <a:srgbClr val="333333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的语义退化。</a:t>
            </a:r>
            <a:endParaRPr lang="zh-CN" altLang="en-US" sz="1600" dirty="0">
              <a:solidFill>
                <a:srgbClr val="333333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4286250" y="1381125"/>
            <a:ext cx="3619500" cy="465709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4286250" y="1381125"/>
            <a:ext cx="3619500" cy="66675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332095" y="2084546"/>
            <a:ext cx="152781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学习率敏感性</a:t>
            </a:r>
            <a:endParaRPr lang="zh-CN" altLang="en-US" sz="20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556760" y="3014980"/>
            <a:ext cx="3053715" cy="1477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γ </a:t>
            </a:r>
            <a:r>
              <a:rPr lang="zh-CN" altLang="en-US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在三个数量级的学习率范围内保持稳定（</a:t>
            </a:r>
            <a:r>
              <a:rPr lang="en-US" alt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CLM</a:t>
            </a:r>
            <a:r>
              <a:rPr lang="zh-CN" altLang="en-US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任务</a:t>
            </a:r>
            <a:r>
              <a:rPr lang="en-US" alt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，γ≈0.39），</a:t>
            </a:r>
            <a:r>
              <a:rPr lang="zh-CN" altLang="en-US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仅在极端欠训练 (</a:t>
            </a:r>
            <a:r>
              <a:rPr lang="en-US" alt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lr=1e−5) </a:t>
            </a:r>
            <a:r>
              <a:rPr lang="zh-CN" altLang="en-US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或不稳定 (</a:t>
            </a:r>
            <a:r>
              <a:rPr lang="en-US" altLang="zh-CN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lr=5e−3) </a:t>
            </a:r>
            <a:r>
              <a:rPr lang="zh-CN" altLang="en-US" sz="16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时偏离。</a:t>
            </a:r>
            <a:endParaRPr lang="zh-CN" altLang="en-US" sz="16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  <a:sym typeface="+mn-ea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556760" y="3442335"/>
            <a:ext cx="1270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556760" y="3709035"/>
            <a:ext cx="1270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556760" y="4051935"/>
            <a:ext cx="1270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556760" y="4318635"/>
            <a:ext cx="1270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3" name="Rectangle 33"/>
          <p:cNvSpPr/>
          <p:nvPr/>
        </p:nvSpPr>
        <p:spPr>
          <a:xfrm>
            <a:off x="8191500" y="1381125"/>
            <a:ext cx="3619500" cy="4648835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4" name="Rectangle 34"/>
          <p:cNvSpPr/>
          <p:nvPr/>
        </p:nvSpPr>
        <p:spPr>
          <a:xfrm>
            <a:off x="8191500" y="1381125"/>
            <a:ext cx="3619500" cy="66675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104630" y="2084546"/>
            <a:ext cx="179324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ΔL(Q) </a:t>
            </a:r>
            <a:r>
              <a:rPr lang="zh-CN" altLang="en-US" sz="20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线性验证</a:t>
            </a:r>
            <a:endParaRPr lang="zh-CN" altLang="en-US" sz="20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7"/>
              <p:cNvSpPr txBox="1"/>
              <p:nvPr/>
            </p:nvSpPr>
            <p:spPr>
              <a:xfrm>
                <a:off x="8462010" y="3028950"/>
                <a:ext cx="2996565" cy="18465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  <a:sym typeface="+mn-ea"/>
                  </a:rPr>
                  <a:t>L(Q)−L(1) </a:t>
                </a:r>
                <a:r>
                  <a:rPr lang="zh-CN" altLang="en-US" sz="16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  <a:sym typeface="+mn-ea"/>
                  </a:rPr>
                  <a:t>对</a:t>
                </a:r>
                <a:r>
                  <a:rPr lang="en-US" altLang="zh-CN" sz="16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  <a:sym typeface="+mn-e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  <a:sym typeface="+mn-ea"/>
                          </a:rPr>
                          <m:t>𝑄</m:t>
                        </m:r>
                      </m:e>
                      <m:sup>
                        <m:r>
                          <a:rPr lang="en-US" altLang="zh-CN" sz="16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  <a:sym typeface="+mn-ea"/>
                          </a:rPr>
                          <m:t>−</m:t>
                        </m:r>
                        <m:r>
                          <a:rPr lang="en-US" altLang="zh-CN" sz="1600" i="1" dirty="0">
                            <a:solidFill>
                              <a:srgbClr val="333333"/>
                            </a:solidFill>
                            <a:latin typeface="DejaVu Math TeX Gyre" panose="02000503000000000000" charset="0"/>
                            <a:ea typeface="微软雅黑"/>
                            <a:cs typeface="DejaVu Math TeX Gyre" panose="02000503000000000000" charset="0"/>
                            <a:sym typeface="+mn-ea"/>
                          </a:rPr>
                          <m:t>𝛾</m:t>
                        </m:r>
                      </m:sup>
                    </m:sSup>
                    <m:r>
                      <a:rPr lang="en-US" altLang="zh-CN" sz="16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  <a:sym typeface="+mn-ea"/>
                      </a:rPr>
                      <m:t>−</m:t>
                    </m:r>
                    <m:r>
                      <a:rPr lang="en-US" altLang="zh-CN" sz="1600" i="1" dirty="0">
                        <a:solidFill>
                          <a:srgbClr val="333333"/>
                        </a:solidFill>
                        <a:latin typeface="DejaVu Math TeX Gyre" panose="02000503000000000000" charset="0"/>
                        <a:ea typeface="微软雅黑"/>
                        <a:cs typeface="DejaVu Math TeX Gyre" panose="02000503000000000000" charset="0"/>
                        <a:sym typeface="+mn-ea"/>
                      </a:rPr>
                      <m:t>1</m:t>
                    </m:r>
                  </m:oMath>
                </a14:m>
                <a:r>
                  <a:rPr lang="zh-CN" altLang="en-US" sz="16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  <a:sym typeface="+mn-ea"/>
                  </a:rPr>
                  <a:t>的图形呈现高度线性，直接验证了公式的预测。三个数据集规模的图形几乎重合，进一步确认了 </a:t>
                </a:r>
                <a:r>
                  <a:rPr lang="en-US" altLang="zh-CN" sz="16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  <a:sym typeface="+mn-ea"/>
                  </a:rPr>
                  <a:t>γ </a:t>
                </a:r>
                <a:r>
                  <a:rPr lang="zh-CN" altLang="en-US" sz="1600" dirty="0">
                    <a:solidFill>
                      <a:srgbClr val="333333"/>
                    </a:solidFill>
                    <a:latin typeface="Arial" panose="020B0704020202020204"/>
                    <a:ea typeface="微软雅黑"/>
                    <a:cs typeface="Arial" panose="020B0704020202020204"/>
                    <a:sym typeface="+mn-ea"/>
                  </a:rPr>
                  <a:t>的稳定性。</a:t>
                </a:r>
                <a:endParaRPr lang="zh-CN" altLang="en-US" sz="1600" dirty="0">
                  <a:solidFill>
                    <a:srgbClr val="333333"/>
                  </a:solidFill>
                  <a:latin typeface="Arial" panose="020B0704020202020204"/>
                  <a:ea typeface="微软雅黑"/>
                  <a:cs typeface="Arial" panose="020B0704020202020204"/>
                  <a:sym typeface="+mn-ea"/>
                </a:endParaRPr>
              </a:p>
            </p:txBody>
          </p:sp>
        </mc:Choice>
        <mc:Fallback>
          <p:sp>
            <p:nvSpPr>
              <p:cNvPr id="37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2010" y="3028950"/>
                <a:ext cx="2996565" cy="184658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Line 4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0FE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369570" y="6522720"/>
            <a:ext cx="844550" cy="138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论文</a:t>
            </a:r>
            <a:r>
              <a:rPr lang="en-US" alt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 </a:t>
            </a:r>
            <a:r>
              <a:rPr 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Appendix</a:t>
            </a:r>
            <a:r>
              <a:rPr lang="en-US" alt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 </a:t>
            </a:r>
            <a:r>
              <a:rPr lang="en-US" alt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E</a:t>
            </a:r>
            <a:endParaRPr lang="en-US" altLang="zh-CN" sz="90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1667315" y="650652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10</a:t>
            </a:r>
            <a:endParaRPr lang="zh-CN" sz="105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6635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贡献与价值</a:t>
            </a:r>
            <a:endParaRPr lang="zh-CN" sz="210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5605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首次将数据质量从模糊概念变成 Scaling Law 中可量化、可预测的数学变量</a:t>
            </a:r>
            <a:endParaRPr lang="zh-CN" sz="135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3619500" cy="380873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81125"/>
            <a:ext cx="3619500" cy="66675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048018" y="1565910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2563EB"/>
                </a:solidFill>
                <a:latin typeface="Arial" panose="020B0704020202020204"/>
                <a:ea typeface="微软雅黑"/>
                <a:cs typeface="Arial" panose="020B0704020202020204"/>
              </a:rPr>
              <a:t>①</a:t>
            </a:r>
            <a:endParaRPr lang="zh-CN" sz="2700" dirty="0">
              <a:solidFill>
                <a:srgbClr val="2563EB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83080" y="2084546"/>
            <a:ext cx="81534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理论统一</a:t>
            </a:r>
            <a:endParaRPr lang="zh-CN" sz="16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51510" y="2489835"/>
            <a:ext cx="2996565" cy="25850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首次将 Q 参数嵌入 Chinchilla</a:t>
            </a:r>
            <a:r>
              <a:rPr lang="en-US" alt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 </a:t>
            </a: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Scaling Law 框架</a:t>
            </a:r>
            <a:endParaRPr lang="zh-CN" sz="14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从 Fisher 信息量 + 互信息两个</a:t>
            </a: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角度给出严格推导</a:t>
            </a:r>
            <a:endParaRPr lang="zh-CN" sz="14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D_eff = D · Q^γ 统一了"质量</a:t>
            </a: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降级=样本量缩减"的直觉</a:t>
            </a:r>
            <a:endParaRPr lang="zh-CN" sz="14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加性 Δ 分解可恢复 Chen、Chang、Goyal 等工作为特例</a:t>
            </a:r>
            <a:endParaRPr lang="zh-CN" altLang="zh-CN" sz="14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  <a:sym typeface="+mn-ea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4286250" y="1381125"/>
            <a:ext cx="3619500" cy="380873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4286250" y="1381125"/>
            <a:ext cx="3619500" cy="66675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953268" y="1565910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2563EB"/>
                </a:solidFill>
                <a:latin typeface="Arial" panose="020B0704020202020204"/>
                <a:ea typeface="微软雅黑"/>
                <a:cs typeface="Arial" panose="020B0704020202020204"/>
              </a:rPr>
              <a:t>②</a:t>
            </a:r>
            <a:endParaRPr lang="zh-CN" sz="2700" dirty="0">
              <a:solidFill>
                <a:srgbClr val="2563EB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688330" y="2084546"/>
            <a:ext cx="81534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实验验证</a:t>
            </a:r>
            <a:endParaRPr lang="zh-CN" sz="16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556760" y="2489835"/>
            <a:ext cx="3053715" cy="2261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2 任务 × 3 规模 × 7 质量 × 3 复现</a:t>
            </a: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= 126 次受控实验</a:t>
            </a:r>
            <a:endParaRPr lang="zh-CN" sz="14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证明 Q 参数准确预测实际损失</a:t>
            </a:r>
            <a:endParaRPr lang="zh-CN" sz="14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ΔL(Q) 对 Q^(-γ)-1 呈线性——验证乘法形式正确</a:t>
            </a:r>
            <a:endParaRPr lang="zh-CN" sz="14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未见过数据的 Scaling 泛化β 和 γ 高度一致</a:t>
            </a:r>
            <a:endParaRPr lang="zh-CN" sz="14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  <a:sym typeface="+mn-ea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556760" y="3442335"/>
            <a:ext cx="1270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556760" y="3709035"/>
            <a:ext cx="1270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556760" y="4051935"/>
            <a:ext cx="1270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556760" y="4318635"/>
            <a:ext cx="1270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endParaRPr lang="zh-CN" sz="12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3" name="Rectangle 33"/>
          <p:cNvSpPr/>
          <p:nvPr/>
        </p:nvSpPr>
        <p:spPr>
          <a:xfrm>
            <a:off x="8191500" y="1381125"/>
            <a:ext cx="3619500" cy="380873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4" name="Rectangle 34"/>
          <p:cNvSpPr/>
          <p:nvPr/>
        </p:nvSpPr>
        <p:spPr>
          <a:xfrm>
            <a:off x="8191500" y="1381125"/>
            <a:ext cx="3619500" cy="66675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858518" y="1565910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2563EB"/>
                </a:solidFill>
                <a:latin typeface="Arial" panose="020B0704020202020204"/>
                <a:ea typeface="微软雅黑"/>
                <a:cs typeface="Arial" panose="020B0704020202020204"/>
              </a:rPr>
              <a:t>③</a:t>
            </a:r>
            <a:endParaRPr lang="zh-CN" sz="2700" dirty="0">
              <a:solidFill>
                <a:srgbClr val="2563EB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593580" y="2084546"/>
            <a:ext cx="81534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实践指导</a:t>
            </a:r>
            <a:endParaRPr lang="zh-CN" sz="1600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462010" y="2489835"/>
            <a:ext cx="2996565" cy="1938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iso-loss 等高线辅助决策</a:t>
            </a: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"提升 Q 还是扩大 D？"</a:t>
            </a:r>
            <a:endParaRPr lang="zh-CN" sz="14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</a:t>
            </a: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数据质量投入产出比可精确计算</a:t>
            </a:r>
            <a:endParaRPr lang="zh-CN" sz="14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领域模型(医疗/科学/法律)受益</a:t>
            </a: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最大——数据贵但可精细清洗</a:t>
            </a:r>
            <a:endParaRPr lang="zh-CN" sz="14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• 附录提供了估计</a:t>
            </a:r>
            <a:r>
              <a:rPr lang="en-US" alt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Q</a:t>
            </a:r>
            <a:r>
              <a:rPr lang="zh-CN" sz="140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  <a:sym typeface="+mn-ea"/>
              </a:rPr>
              <a:t>的实操指南</a:t>
            </a:r>
            <a:endParaRPr lang="zh-CN" sz="140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4" name="Rectangle 44"/>
          <p:cNvSpPr/>
          <p:nvPr/>
        </p:nvSpPr>
        <p:spPr>
          <a:xfrm>
            <a:off x="381000" y="5400675"/>
            <a:ext cx="11430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829895" y="5588317"/>
            <a:ext cx="85322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对学术界的价值：将"数据质量"从一个模糊的工程概念变成了可量化、可优化、可预测的数学对象</a:t>
            </a:r>
            <a:endParaRPr lang="zh-CN" sz="1350" dirty="0">
              <a:solidFill>
                <a:srgbClr val="E8F0FE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3629025" y="5839777"/>
            <a:ext cx="4933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 val="6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对工业界的价值：用更小的模型、更少的计算、更好的数据达到同等性能</a:t>
            </a:r>
            <a:endParaRPr lang="zh-CN" sz="1050" dirty="0">
              <a:solidFill>
                <a:srgbClr val="FFFFFF">
                  <a:alpha val="60000"/>
                </a:srgbClr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7" name="Line 4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0FE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369570" y="6522720"/>
            <a:ext cx="31512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论文 Section 1 Introduction + Section 6 Conclusion</a:t>
            </a:r>
            <a:endParaRPr lang="zh-CN" sz="90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1675745" y="6506528"/>
            <a:ext cx="148590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1</a:t>
            </a:r>
            <a:r>
              <a:rPr lang="en-US" altLang="zh-CN" sz="105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1</a:t>
            </a:r>
            <a:endParaRPr lang="en-US" altLang="zh-CN" sz="105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6635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收获与启发</a:t>
            </a:r>
            <a:endParaRPr lang="zh-CN" sz="210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677025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我的研究方向：利用 Scaling Law 从部分数据预测全量数据的</a:t>
            </a:r>
            <a:r>
              <a:rPr lang="zh-CN" sz="13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训练表现，评估数据集质量</a:t>
            </a:r>
            <a:endParaRPr lang="zh-CN" sz="135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11430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5808" y="1519714"/>
            <a:ext cx="4771390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💡 收获一：Scaling Law </a:t>
            </a:r>
            <a:r>
              <a:rPr lang="zh-CN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公式为"部分→全量"外推提供了数学基础</a:t>
            </a:r>
            <a:endParaRPr lang="zh-CN" sz="1275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381000" y="1952625"/>
            <a:ext cx="11430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45808" y="2138839"/>
            <a:ext cx="5883275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💡 收获二：其他评估指标得到的数据质量Q可以作为更优</a:t>
            </a:r>
            <a:r>
              <a:rPr lang="zh-CN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的数据集质量的量化标签</a:t>
            </a:r>
            <a:endParaRPr lang="zh-CN" sz="1275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381000" y="2571750"/>
            <a:ext cx="11430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45808" y="2757964"/>
            <a:ext cx="6055360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💡 收获三：γ 表示了任务与数据集之间的鲁棒性指数</a:t>
            </a:r>
            <a:r>
              <a:rPr lang="en-US" altLang="zh-CN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，</a:t>
            </a:r>
            <a:r>
              <a:rPr lang="zh-CN" altLang="en-US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可以作为</a:t>
            </a:r>
            <a:r>
              <a:rPr lang="zh-CN" altLang="en-US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一种数据集评估</a:t>
            </a:r>
            <a:r>
              <a:rPr lang="zh-CN" altLang="en-US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指标</a:t>
            </a:r>
            <a:endParaRPr lang="zh-CN" altLang="en-US" sz="1275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381000" y="3190875"/>
            <a:ext cx="11430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5808" y="3377089"/>
            <a:ext cx="5833745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💡 收获四：实验部分的</a:t>
            </a:r>
            <a:r>
              <a:rPr lang="zh-CN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嵌套采样策略和</a:t>
            </a:r>
            <a:r>
              <a:rPr lang="en-US" altLang="zh-CN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Huber Loss</a:t>
            </a:r>
            <a:r>
              <a:rPr lang="zh-CN" altLang="en-US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鲁棒回归的拟合方法</a:t>
            </a:r>
            <a:r>
              <a:rPr lang="zh-CN" altLang="en-US" sz="1275" b="1" dirty="0">
                <a:solidFill>
                  <a:srgbClr val="003366"/>
                </a:solidFill>
                <a:latin typeface="Arial" panose="020B0704020202020204"/>
                <a:ea typeface="微软雅黑"/>
                <a:cs typeface="Arial" panose="020B0704020202020204"/>
              </a:rPr>
              <a:t>值得借鉴</a:t>
            </a:r>
            <a:endParaRPr lang="zh-CN" altLang="en-US" sz="1275" b="1" dirty="0">
              <a:solidFill>
                <a:srgbClr val="0033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381000" y="3952875"/>
            <a:ext cx="11430000" cy="11252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381000" y="3952875"/>
            <a:ext cx="11430000" cy="571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235576" y="4140518"/>
            <a:ext cx="172085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与</a:t>
            </a:r>
            <a:r>
              <a:rPr lang="zh-CN" sz="135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本人研究工作的连接</a:t>
            </a:r>
            <a:endParaRPr lang="zh-CN" sz="135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910523" y="4414361"/>
            <a:ext cx="6370955" cy="173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核心思路：在数据子集上拟合 L(N,D,Q)</a:t>
            </a:r>
            <a:r>
              <a:rPr lang="en-US" altLang="zh-CN" sz="1125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 </a:t>
            </a:r>
            <a:r>
              <a:rPr lang="zh-CN" sz="1125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→</a:t>
            </a:r>
            <a:r>
              <a:rPr lang="en-US" altLang="zh-CN" sz="1125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 </a:t>
            </a:r>
            <a:r>
              <a:rPr lang="zh-CN" sz="1125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用拟合参数预测全量数据上的损失</a:t>
            </a:r>
            <a:r>
              <a:rPr lang="en-US" altLang="zh-CN" sz="1125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 </a:t>
            </a:r>
            <a:r>
              <a:rPr lang="zh-CN" sz="1125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→</a:t>
            </a:r>
            <a:r>
              <a:rPr lang="en-US" altLang="zh-CN" sz="1125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 </a:t>
            </a:r>
            <a:r>
              <a:rPr lang="zh-CN" sz="1125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评估数据集整体质量</a:t>
            </a:r>
            <a:endParaRPr lang="zh-CN" sz="1125" dirty="0">
              <a:solidFill>
                <a:srgbClr val="E8F0FE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3975100" y="4668202"/>
            <a:ext cx="4241800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 val="6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这篇论文提供了缺失的一环：将"质量"显式建模</a:t>
            </a:r>
            <a:r>
              <a:rPr lang="en-US" altLang="zh-CN" sz="1050" dirty="0">
                <a:solidFill>
                  <a:srgbClr val="FFFFFF">
                    <a:alpha val="6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”</a:t>
            </a:r>
            <a:r>
              <a:rPr lang="zh-CN" sz="1050" dirty="0">
                <a:solidFill>
                  <a:srgbClr val="FFFFFF">
                    <a:alpha val="6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，让外推从"猜"变成"算</a:t>
            </a:r>
            <a:r>
              <a:rPr lang="en-US" altLang="zh-CN" sz="1050" dirty="0">
                <a:solidFill>
                  <a:srgbClr val="FFFFFF">
                    <a:alpha val="6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”</a:t>
            </a:r>
            <a:r>
              <a:rPr lang="zh-CN" sz="1050" dirty="0">
                <a:solidFill>
                  <a:srgbClr val="FFFFFF">
                    <a:alpha val="6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"</a:t>
            </a:r>
            <a:endParaRPr lang="zh-CN" sz="1050" dirty="0">
              <a:solidFill>
                <a:srgbClr val="FFFFFF">
                  <a:alpha val="60000"/>
                </a:srgbClr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381000" y="5301615"/>
            <a:ext cx="11430000" cy="809625"/>
          </a:xfrm>
          <a:prstGeom prst="rect">
            <a:avLst/>
          </a:prstGeom>
          <a:solidFill>
            <a:srgbClr val="FFFFFF"/>
          </a:solidFill>
          <a:ln w="14288">
            <a:solidFill>
              <a:srgbClr val="CC000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381000" y="5301615"/>
            <a:ext cx="11430000" cy="47625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2462" y="5446871"/>
            <a:ext cx="10378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C0000"/>
                </a:solidFill>
                <a:latin typeface="Arial" panose="020B0704020202020204"/>
                <a:ea typeface="微软雅黑"/>
                <a:cs typeface="Arial" panose="020B0704020202020204"/>
              </a:rPr>
              <a:t>⚠ 待解决问题</a:t>
            </a:r>
            <a:endParaRPr lang="zh-CN" sz="1125" b="1" dirty="0">
              <a:solidFill>
                <a:srgbClr val="CC0000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53415" y="5735002"/>
            <a:ext cx="382460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部分数据拟合的</a:t>
            </a:r>
            <a:r>
              <a:rPr lang="en-US" altLang="zh-CN" sz="10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 </a:t>
            </a:r>
            <a:r>
              <a:rPr lang="zh-CN" sz="10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γ 等</a:t>
            </a:r>
            <a:r>
              <a:rPr lang="zh-CN" sz="10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参数是否稳定？多少样本量才能可靠外推？</a:t>
            </a:r>
            <a:endParaRPr lang="zh-CN" sz="105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939665" y="5735002"/>
            <a:ext cx="5505450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• 在不同的任务的情景下</a:t>
            </a:r>
            <a:r>
              <a:rPr lang="en-US" altLang="zh-CN" sz="10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，</a:t>
            </a:r>
            <a:r>
              <a:rPr lang="zh-CN" sz="10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合成噪声 Q 是否还可以模拟真实数据 Q</a:t>
            </a:r>
            <a:r>
              <a:rPr lang="en-US" altLang="zh-CN" sz="10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？（</a:t>
            </a:r>
            <a:r>
              <a:rPr lang="zh-CN" altLang="en-US" sz="10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需要做语义验证实验</a:t>
            </a:r>
            <a:r>
              <a:rPr lang="en-US" altLang="zh-CN" sz="10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）</a:t>
            </a:r>
            <a:r>
              <a:rPr lang="zh-CN" sz="1050" dirty="0">
                <a:solidFill>
                  <a:srgbClr val="333333"/>
                </a:solidFill>
                <a:latin typeface="Arial" panose="020B0704020202020204"/>
                <a:ea typeface="微软雅黑"/>
                <a:cs typeface="Arial" panose="020B0704020202020204"/>
              </a:rPr>
              <a:t> </a:t>
            </a:r>
            <a:endParaRPr lang="zh-CN" sz="1050" dirty="0">
              <a:solidFill>
                <a:srgbClr val="333333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0F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69570" y="6522720"/>
            <a:ext cx="2802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 panose="020B0704020202020204"/>
                <a:ea typeface="微软雅黑"/>
                <a:cs typeface="Arial" panose="020B0704020202020204"/>
              </a:rPr>
              <a:t>个人研究方向 · 论文 Section 6 + Appendix E.3</a:t>
            </a:r>
            <a:endParaRPr lang="zh-CN" sz="900" dirty="0">
              <a:solidFill>
                <a:srgbClr val="999999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675745" y="6506528"/>
            <a:ext cx="148590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1</a:t>
            </a:r>
            <a:r>
              <a:rPr lang="en-US" altLang="zh-CN" sz="1050" dirty="0">
                <a:solidFill>
                  <a:srgbClr val="666666"/>
                </a:solidFill>
                <a:latin typeface="Arial" panose="020B0704020202020204"/>
                <a:ea typeface="微软雅黑"/>
                <a:cs typeface="Arial" panose="020B0704020202020204"/>
              </a:rPr>
              <a:t>2</a:t>
            </a:r>
            <a:endParaRPr lang="en-US" altLang="zh-CN" sz="1050" dirty="0">
              <a:solidFill>
                <a:srgbClr val="666666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2563EB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476250" y="-190500"/>
            <a:ext cx="3810000" cy="3810000"/>
          </a:xfrm>
          <a:prstGeom prst="ellipse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048750" y="3810000"/>
            <a:ext cx="2857500" cy="28575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57150" cy="1714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951731" y="2181225"/>
            <a:ext cx="2288540" cy="692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感谢</a:t>
            </a:r>
            <a:r>
              <a:rPr lang="zh-CN" sz="4500" b="1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聆听</a:t>
            </a:r>
            <a:endParaRPr lang="zh-CN" sz="4500" b="1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722358" y="3027998"/>
            <a:ext cx="74728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Q &amp; A</a:t>
            </a:r>
            <a:endParaRPr lang="zh-CN" sz="1950" dirty="0">
              <a:solidFill>
                <a:srgbClr val="E8F0FE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9" name="Line 9"/>
          <p:cNvSpPr/>
          <p:nvPr/>
        </p:nvSpPr>
        <p:spPr>
          <a:xfrm>
            <a:off x="3810000" y="36004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FFFFFF">
                <a:alpha val="40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6286500" y="36004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FFFFFF">
                <a:alpha val="4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6038850" y="3543300"/>
            <a:ext cx="114300" cy="1143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238500" y="4000500"/>
            <a:ext cx="5715000" cy="9525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684520" y="41690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Arial" panose="020B0704020202020204"/>
                <a:ea typeface="微软雅黑"/>
                <a:cs typeface="Arial" panose="020B0704020202020204"/>
              </a:rPr>
              <a:t>论文链接</a:t>
            </a:r>
            <a:endParaRPr lang="zh-CN" sz="1350" dirty="0">
              <a:solidFill>
                <a:srgbClr val="FFFFFF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989766" y="4471035"/>
            <a:ext cx="22124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F0FE"/>
                </a:solidFill>
                <a:latin typeface="Arial" panose="020B0704020202020204"/>
                <a:ea typeface="微软雅黑"/>
                <a:cs typeface="Arial" panose="020B0704020202020204"/>
              </a:rPr>
              <a:t>arxiv.org/abs/2510.03313</a:t>
            </a:r>
            <a:endParaRPr lang="zh-CN" sz="1200" dirty="0">
              <a:solidFill>
                <a:srgbClr val="E8F0FE"/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805238" y="4733449"/>
            <a:ext cx="45815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 val="7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Subramanyam, Chen, Grossman · University of Chicago · ICLR 2026</a:t>
            </a:r>
            <a:endParaRPr lang="zh-CN" sz="975" dirty="0">
              <a:solidFill>
                <a:srgbClr val="FFFFFF">
                  <a:alpha val="70000"/>
                </a:srgbClr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545931" y="53159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 val="5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欢迎讨论与交流</a:t>
            </a:r>
            <a:endParaRPr lang="zh-CN" sz="1050" dirty="0">
              <a:solidFill>
                <a:srgbClr val="FFFFFF">
                  <a:alpha val="50000"/>
                </a:srgbClr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027296" y="6543199"/>
            <a:ext cx="213741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 val="5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周会论文</a:t>
            </a:r>
            <a:r>
              <a:rPr lang="zh-CN" sz="975" dirty="0">
                <a:solidFill>
                  <a:srgbClr val="FFFFFF">
                    <a:alpha val="5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分享 · Scaling Laws Revisited</a:t>
            </a:r>
            <a:endParaRPr lang="zh-CN" sz="975" dirty="0">
              <a:solidFill>
                <a:srgbClr val="FFFFFF">
                  <a:alpha val="50000"/>
                </a:srgbClr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494453" y="6543199"/>
            <a:ext cx="13843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FFFFF">
                    <a:alpha val="5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1</a:t>
            </a:r>
            <a:r>
              <a:rPr lang="en-US" altLang="zh-CN" sz="975" dirty="0">
                <a:solidFill>
                  <a:srgbClr val="FFFFFF">
                    <a:alpha val="50000"/>
                  </a:srgbClr>
                </a:solidFill>
                <a:latin typeface="Arial" panose="020B0704020202020204"/>
                <a:ea typeface="微软雅黑"/>
                <a:cs typeface="Arial" panose="020B0704020202020204"/>
              </a:rPr>
              <a:t>3</a:t>
            </a:r>
            <a:endParaRPr lang="en-US" altLang="zh-CN" sz="975" dirty="0">
              <a:solidFill>
                <a:srgbClr val="FFFFFF">
                  <a:alpha val="50000"/>
                </a:srgbClr>
              </a:solidFill>
              <a:latin typeface="Arial" panose="020B0704020202020204"/>
              <a:ea typeface="微软雅黑"/>
              <a:cs typeface="Arial" panose="020B0704020202020204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5184</Words>
  <Application>WPS 文字</Application>
  <PresentationFormat>On-screen Show (4:3)</PresentationFormat>
  <Paragraphs>466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汉仪旗黑</vt:lpstr>
      <vt:lpstr>DejaVu Math TeX Gyre</vt:lpstr>
      <vt:lpstr>宋体</vt:lpstr>
      <vt:lpstr>微软雅黑</vt:lpstr>
      <vt:lpstr>微软雅黑</vt:lpstr>
      <vt:lpstr>Calibri</vt:lpstr>
      <vt:lpstr>Helvetica Neue</vt:lpstr>
      <vt:lpstr>汉仪书宋二KW</vt:lpstr>
      <vt:lpstr>Arial Unicode MS</vt:lpstr>
      <vt:lpstr>MS PGothic</vt:lpstr>
      <vt:lpstr>苹方-简</vt:lpstr>
      <vt:lpstr>宋体-简</vt:lpstr>
      <vt:lpstr>Apple Symbols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微信用户</cp:lastModifiedBy>
  <cp:revision>203</cp:revision>
  <dcterms:created xsi:type="dcterms:W3CDTF">2026-07-16T07:40:11Z</dcterms:created>
  <dcterms:modified xsi:type="dcterms:W3CDTF">2026-07-16T07:40:11Z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F57CCFE345D292D8E334536AB1F615DC_42</vt:lpwstr>
  </property>
</Properties>
</file>