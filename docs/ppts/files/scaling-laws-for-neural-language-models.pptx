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16357a115421a" /><Relationship Type="http://schemas.openxmlformats.org/officeDocument/2006/relationships/extended-properties" Target="/docProps/app.xml" Id="Rda71a900e5134e01" /><Relationship Type="http://schemas.openxmlformats.org/officeDocument/2006/relationships/officeDocument" Target="/ppt/presentation.xml" Id="Rf4b76fe48670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ee076127934789"/>
  </p:sldMasterIdLst>
  <p:notesMasterIdLst>
    <p:notesMasterId xmlns:r="http://schemas.openxmlformats.org/officeDocument/2006/relationships" r:id="R5869732c00da44e2"/>
  </p:notesMasterIdLst>
  <p:sldIdLst>
    <p:sldId xmlns:r="http://schemas.openxmlformats.org/officeDocument/2006/relationships" id="256" r:id="R4e78a8e53a3f4383"/>
    <p:sldId xmlns:r="http://schemas.openxmlformats.org/officeDocument/2006/relationships" id="257" r:id="Rfbb17a82521a4918"/>
    <p:sldId xmlns:r="http://schemas.openxmlformats.org/officeDocument/2006/relationships" id="258" r:id="R0a9736173b2e4ff8"/>
    <p:sldId xmlns:r="http://schemas.openxmlformats.org/officeDocument/2006/relationships" id="259" r:id="R64188b1855e941f5"/>
    <p:sldId xmlns:r="http://schemas.openxmlformats.org/officeDocument/2006/relationships" id="260" r:id="Ra1f43c95013f48f4"/>
    <p:sldId xmlns:r="http://schemas.openxmlformats.org/officeDocument/2006/relationships" id="261" r:id="R63cc3a61b8c84566"/>
    <p:sldId xmlns:r="http://schemas.openxmlformats.org/officeDocument/2006/relationships" id="262" r:id="R332442bf4caa4a1a"/>
    <p:sldId xmlns:r="http://schemas.openxmlformats.org/officeDocument/2006/relationships" id="263" r:id="Ra94c7d5c53234fe3"/>
    <p:sldId xmlns:r="http://schemas.openxmlformats.org/officeDocument/2006/relationships" id="264" r:id="R98f13a53701540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0b7cb33304ba5" /><Relationship Type="http://schemas.openxmlformats.org/officeDocument/2006/relationships/slideMaster" Target="/ppt/slideMasters/slideMaster1.xml" Id="R05ee076127934789" /><Relationship Type="http://schemas.openxmlformats.org/officeDocument/2006/relationships/notesMaster" Target="/ppt/notesMasters/notesMaster1.xml" Id="R5869732c00da44e2" /><Relationship Type="http://schemas.openxmlformats.org/officeDocument/2006/relationships/presProps" Target="/ppt/presProps.xml" Id="R441d3f7c3f894e0c" /><Relationship Type="http://schemas.openxmlformats.org/officeDocument/2006/relationships/tableStyles" Target="/ppt/tableStyles.xml" Id="R32053098a2d44690" /><Relationship Type="http://schemas.openxmlformats.org/officeDocument/2006/relationships/slide" Target="/ppt/slides/slide1.xml" Id="R4e78a8e53a3f4383" /><Relationship Type="http://schemas.openxmlformats.org/officeDocument/2006/relationships/slide" Target="/ppt/slides/slide2.xml" Id="Rfbb17a82521a4918" /><Relationship Type="http://schemas.openxmlformats.org/officeDocument/2006/relationships/slide" Target="/ppt/slides/slide3.xml" Id="R0a9736173b2e4ff8" /><Relationship Type="http://schemas.openxmlformats.org/officeDocument/2006/relationships/slide" Target="/ppt/slides/slide4.xml" Id="R64188b1855e941f5" /><Relationship Type="http://schemas.openxmlformats.org/officeDocument/2006/relationships/slide" Target="/ppt/slides/slide5.xml" Id="Ra1f43c95013f48f4" /><Relationship Type="http://schemas.openxmlformats.org/officeDocument/2006/relationships/slide" Target="/ppt/slides/slide6.xml" Id="R63cc3a61b8c84566" /><Relationship Type="http://schemas.openxmlformats.org/officeDocument/2006/relationships/slide" Target="/ppt/slides/slide7.xml" Id="R332442bf4caa4a1a" /><Relationship Type="http://schemas.openxmlformats.org/officeDocument/2006/relationships/slide" Target="/ppt/slides/slide8.xml" Id="Ra94c7d5c53234fe3" /><Relationship Type="http://schemas.openxmlformats.org/officeDocument/2006/relationships/slide" Target="/ppt/slides/slide9.xml" Id="R98f13a537015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7bc7490c6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b994fc8e64766" /><Relationship Type="http://schemas.openxmlformats.org/officeDocument/2006/relationships/notesMaster" Target="/ppt/notesMasters/notesMaster1.xml" Id="Rfa4a86d7161a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600240be0946a5" /><Relationship Type="http://schemas.openxmlformats.org/officeDocument/2006/relationships/notesMaster" Target="/ppt/notesMasters/notesMaster1.xml" Id="R905d324b9d5b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9f1b6ada143cf" /><Relationship Type="http://schemas.openxmlformats.org/officeDocument/2006/relationships/notesMaster" Target="/ppt/notesMasters/notesMaster1.xml" Id="R1e40e59d38ef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6d4e74db5a47cc" /><Relationship Type="http://schemas.openxmlformats.org/officeDocument/2006/relationships/notesMaster" Target="/ppt/notesMasters/notesMaster1.xml" Id="Rf526f39393f54e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89cfaa709740c3" /><Relationship Type="http://schemas.openxmlformats.org/officeDocument/2006/relationships/notesMaster" Target="/ppt/notesMasters/notesMaster1.xml" Id="R8b451bb5870d43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a1f5e67d584a20" /><Relationship Type="http://schemas.openxmlformats.org/officeDocument/2006/relationships/notesMaster" Target="/ppt/notesMasters/notesMaster1.xml" Id="R10f2e098124b48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f9328ca8864db0" /><Relationship Type="http://schemas.openxmlformats.org/officeDocument/2006/relationships/notesMaster" Target="/ppt/notesMasters/notesMaster1.xml" Id="Re2789a619f04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d76c5501d948fd" /><Relationship Type="http://schemas.openxmlformats.org/officeDocument/2006/relationships/notesMaster" Target="/ppt/notesMasters/notesMaster1.xml" Id="R56c6e0acc9d348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e75cfda4604499" /><Relationship Type="http://schemas.openxmlformats.org/officeDocument/2006/relationships/notesMaster" Target="/ppt/notesMasters/notesMaster1.xml" Id="R14dcc079345a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905ef6dc84f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5d7a17270438d" /><Relationship Type="http://schemas.openxmlformats.org/officeDocument/2006/relationships/slideLayout" Target="/ppt/slideLayouts/slideLayout1.xml" Id="R60d6f3d146ca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6f3d146ca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0acf644054b3c" /><Relationship Type="http://schemas.openxmlformats.org/officeDocument/2006/relationships/notesSlide" Target="/ppt/notesSlides/notesSlide1.xml" Id="R665af4d4c327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986210174694" /><Relationship Type="http://schemas.openxmlformats.org/officeDocument/2006/relationships/notesSlide" Target="/ppt/notesSlides/notesSlide2.xml" Id="R9a44bbca209a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65802a6174d25" /><Relationship Type="http://schemas.openxmlformats.org/officeDocument/2006/relationships/notesSlide" Target="/ppt/notesSlides/notesSlide3.xml" Id="R33f7b1b14ff6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674dfc8ed4631" /><Relationship Type="http://schemas.openxmlformats.org/officeDocument/2006/relationships/chart" Target="/ppt/slides/charts/chart1.xml" Id="Rc79795c70e7a4511" /><Relationship Type="http://schemas.openxmlformats.org/officeDocument/2006/relationships/notesSlide" Target="/ppt/notesSlides/notesSlide4.xml" Id="R970ddd4db46347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ade0363ef459d" /><Relationship Type="http://schemas.openxmlformats.org/officeDocument/2006/relationships/notesSlide" Target="/ppt/notesSlides/notesSlide5.xml" Id="R692d518b7bf0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76e0563ee4c5a" /><Relationship Type="http://schemas.openxmlformats.org/officeDocument/2006/relationships/notesSlide" Target="/ppt/notesSlides/notesSlide6.xml" Id="Rc2b9a745576a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cf43d7b143f2" /><Relationship Type="http://schemas.openxmlformats.org/officeDocument/2006/relationships/chart" Target="/ppt/slides/charts/chart2.xml" Id="R4313e422cdb64cc4" /><Relationship Type="http://schemas.openxmlformats.org/officeDocument/2006/relationships/notesSlide" Target="/ppt/notesSlides/notesSlide7.xml" Id="Rabfa98b442ea45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c767619c74183" /><Relationship Type="http://schemas.openxmlformats.org/officeDocument/2006/relationships/notesSlide" Target="/ppt/notesSlides/notesSlide8.xml" Id="R71c5210684b348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4f8de17894e39" /><Relationship Type="http://schemas.openxmlformats.org/officeDocument/2006/relationships/notesSlide" Target="/ppt/notesSlides/notesSlide9.xml" Id="Raacb22cbf25d4cf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Scaling exponent</c:v>
          </c:tx>
          <c:spPr>
            <a:solidFill xmlns:a="http://schemas.openxmlformats.org/drawingml/2006/main">
              <a:schemeClr val="accent1"/>
            </a:solidFill>
          </c:spPr>
          <c:dLbls/>
          <c:cat>
            <c:strLit>
              <c:ptCount val="3"/>
              <c:pt idx="0">
                <c:v>Model size</c:v>
              </c:pt>
              <c:pt idx="1">
                <c:v>Dataset size</c:v>
              </c:pt>
              <c:pt idx="2">
                <c:v>Optimized compute</c:v>
              </c:pt>
            </c:strLit>
          </c:cat>
          <c:val>
            <c:numLit>
              <c:formatCode>General</c:formatCode>
              <c:ptCount val="3"/>
              <c:pt idx="0">
                <c:v>0.076</c:v>
              </c:pt>
              <c:pt idx="1">
                <c:v>0.095</c:v>
              </c:pt>
              <c:pt idx="2">
                <c:v>0.05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Power p where value ~ Cmin^p</c:v>
          </c:tx>
          <c:spPr>
            <a:solidFill xmlns:a="http://schemas.openxmlformats.org/drawingml/2006/main">
              <a:schemeClr val="accent2"/>
            </a:solidFill>
          </c:spPr>
          <c:dLbls/>
          <c:cat>
            <c:strLit>
              <c:ptCount val="4"/>
              <c:pt idx="0">
                <c:v>N_opt</c:v>
              </c:pt>
              <c:pt idx="1">
                <c:v>B_crit</c:v>
              </c:pt>
              <c:pt idx="2">
                <c:v>S_min</c:v>
              </c:pt>
              <c:pt idx="3">
                <c:v>D_opt</c:v>
              </c:pt>
            </c:strLit>
          </c:cat>
          <c:val>
            <c:numLit>
              <c:formatCode>General</c:formatCode>
              <c:ptCount val="4"/>
              <c:pt idx="0">
                <c:v>0.73</c:v>
              </c:pt>
              <c:pt idx="1">
                <c:v>0.24</c:v>
              </c:pt>
              <c:pt idx="2">
                <c:v>0.03</c:v>
              </c:pt>
              <c:pt idx="3">
                <c:v>0.27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51EA0-2C29-4381-AD50-A545DDF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084D1"/>
                </a:solidFill>
              </a:defRPr>
            </a:pPr>
            <a:r>
              <a:rPr sz="900" b="1" i="0">
                <a:solidFill>
                  <a:srgbClr val="0084D1"/>
                </a:solidFill>
              </a:rPr>
              <a:t>PAPER DEEP 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1E643-D576-45D3-8B43-FD83742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20618"/>
                </a:solidFill>
              </a:defRPr>
            </a:pPr>
            <a:r>
              <a:rPr sz="3150" b="1" i="0">
                <a:solidFill>
                  <a:srgbClr val="020618"/>
                </a:solidFill>
              </a:rPr>
              <a:t>Scaling Laws for Neural Language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E26B8-579C-479F-8870-7F105A4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5556C"/>
                </a:solidFill>
              </a:defRPr>
            </a:pPr>
            <a:r>
              <a:rPr sz="1575" b="0" i="0">
                <a:solidFill>
                  <a:srgbClr val="45556C"/>
                </a:solidFill>
              </a:rPr>
              <a:t>A compact framework for predicting language-model loss from parameters, data, and optimized compute.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4FFD-6C6F-439E-9F86-3052EE04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733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84A3-112E-4EDF-9ACA-BCA949FA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1718D-4696-4952-A306-D5F515D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620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MAIN 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693A-617A-403C-8501-48FDC797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84D1"/>
                </a:solidFill>
              </a:defRPr>
            </a:pPr>
            <a:r>
              <a:rPr sz="2100" b="1" i="0">
                <a:solidFill>
                  <a:srgbClr val="0084D1"/>
                </a:solidFill>
              </a:rPr>
              <a:t>N, D, Cmin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64AC-53EB-4B08-8360-E919C59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Non-embedding parameters, dataset tokens, and optimized compute explain most loss variation.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01B06-FB07-4057-8014-FE63579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33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231F1-9046-404F-B3F7-8ED07C4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18290-4101-4394-9BDE-B90F3E0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1940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TRAINING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51E2D-A232-4C16-B3DC-FA38D04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9966"/>
                </a:solidFill>
              </a:defRPr>
            </a:pPr>
            <a:r>
              <a:rPr sz="2100" b="1" i="0">
                <a:solidFill>
                  <a:srgbClr val="009966"/>
                </a:solidFill>
              </a:rPr>
              <a:t>Bigger model, fewer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8D8D2-81CD-40E1-8301-E9722AE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Compute-efficient runs scale model size much faster than serial optimization steps.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9AEB0-92F8-4BC7-823D-41C48D8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3733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95998-E645-48F3-97DB-F338AC1F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22253-B0C5-489D-8A97-963E0B9E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76750"/>
            <a:ext cx="335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DATA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F8520-1121-4544-A845-8FC9AB20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EC003F"/>
                </a:solidFill>
              </a:defRPr>
            </a:pPr>
            <a:r>
              <a:rPr sz="2100" b="1" i="0">
                <a:solidFill>
                  <a:srgbClr val="EC003F"/>
                </a:solidFill>
              </a:rPr>
              <a:t>Tokens become a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D09B2-AB0D-4A52-B265-54FC71A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816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Data quality work should ask whether curation shifts the loss frontier, not only whether it adds more 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1589A-7CD7-4499-AAB3-D674203F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1/9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E4372-DDBD-4A3E-824E-3D8867D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291984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4D006-8E92-49A2-9DE5-5C60C0CC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28201-DDA2-494D-9425-77112BA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What question is the paper answering?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2CA68-9CD4-41E6-8AA0-EE1D5E35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CBF8E-CE02-4680-AEE8-550BBF44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6B8E-FB8F-498B-95D1-ABA3D57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Given a target compute budget, should we spend it on more parameters, more unique data, larger batches, or longer training?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AB5A-FD8B-4535-9D8A-13B3B5A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37BA6-086E-433A-8812-AAD6D379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The paper studies many language-model runs and fits loss as a function of scale instead of treating every run as an isolated experiment.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583D0-3378-40FE-91FC-16DD336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5F92D-E99E-4F2C-9DA3-5C7E4BC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For data quality research, it gives a null model: a curated dataset should beat the frontier expected from token count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2FFE6-1E8A-4339-8AA4-219E409D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DA6F9-E3F8-44FF-8F84-DBAAC7E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Core prediction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59CE1-E912-4FDF-A01A-30BBD2E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20618"/>
                </a:solidFill>
              </a:defRPr>
            </a:pPr>
            <a:r>
              <a:rPr sz="2250" b="1" i="0">
                <a:solidFill>
                  <a:srgbClr val="020618"/>
                </a:solidFill>
              </a:rPr>
              <a:t>held-out cross-entropy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5062A-F256-4219-ABF4-4608451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5556C"/>
                </a:solidFill>
              </a:defRPr>
            </a:pPr>
            <a:r>
              <a:rPr sz="1275" b="0" i="0">
                <a:solidFill>
                  <a:srgbClr val="45556C"/>
                </a:solidFill>
              </a:rPr>
              <a:t>The metric is smooth and scalable, but it is not a complete data quality measure: it misses toxicity, factuality, provenance, and contamination.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25AAA-510C-4AD1-87A1-D2D0627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2/9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C3282-5394-4069-B1D0-63ED102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030484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3CF0B-4924-427D-B4B0-3E881F0A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A493F-B44D-42B5-8780-8F0CE1B6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Experimental setup: controlled scaling over web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336E1-A378-4602-A886-20B3BB7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5B7F-01C9-41EA-8222-7E214559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3314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F9BF2-80EE-4863-A287-6BDF786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27049-4802-43CD-BC5F-22FAD77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TRAINING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184FF-A738-45A9-A132-D005BB3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84D1"/>
                </a:solidFill>
              </a:defRPr>
            </a:pPr>
            <a:r>
              <a:rPr sz="2100" b="1" i="0">
                <a:solidFill>
                  <a:srgbClr val="0084D1"/>
                </a:solidFill>
              </a:rPr>
              <a:t>WebText2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CCD49-CEC8-47E5-A8FB-8342C9B9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About 20.3M documents, 96GB text, 2.29e10 BPE tokens, and 6.6e8 held-out tokens.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5F098-A995-4742-9E91-AF05AC2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66850"/>
            <a:ext cx="3314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8E8F4-639A-456A-A564-3B066FF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66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8A18D-1A78-441C-815B-8587D2F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E1CB4-F571-437D-AD09-FBA47C1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9966"/>
                </a:solidFill>
              </a:defRPr>
            </a:pPr>
            <a:r>
              <a:rPr sz="2100" b="1" i="0">
                <a:solidFill>
                  <a:srgbClr val="009966"/>
                </a:solidFill>
              </a:rPr>
              <a:t>768 to 1.5B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9C382-C645-4141-92A3-E26D867C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Decoder-only Transformers by non-embedding parameter count; LSTMs and recurrent variants are compared.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A1AF0-542B-40C6-A502-4D55AE3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66850"/>
            <a:ext cx="3314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99898-76BA-4962-A781-EE3E250B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66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A1BD3-F1EB-48FE-8764-4818BA8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383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AA785-CF9A-41F6-BDEC-8D007CB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050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E9A00"/>
                </a:solidFill>
              </a:defRPr>
            </a:pPr>
            <a:r>
              <a:rPr sz="2100" b="1" i="0">
                <a:solidFill>
                  <a:srgbClr val="FE9A00"/>
                </a:solidFill>
              </a:rPr>
              <a:t>5 text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D29C4-FF9C-4E0B-8C96-12F6745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WebText2 plus Books Corpus, Common Crawl, English Wikipedia, and Internet Books.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C1E64-1A63-4215-A7A8-226D5979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D24F2-B995-4A63-905F-A152919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EC003F"/>
                </a:solidFill>
              </a:defRPr>
            </a:pPr>
            <a:r>
              <a:rPr sz="1575" b="1" i="0">
                <a:solidFill>
                  <a:srgbClr val="EC003F"/>
                </a:solidFill>
              </a:rPr>
              <a:t>Training compute estimate: C ~= 6 N B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3BC55-EAE1-4483-9B91-25B5357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Important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8CEA0-1F86-48AC-B89A-00AEA00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20618"/>
                </a:solidFill>
              </a:defRPr>
            </a:pPr>
            <a:r>
              <a:rPr sz="1500" b="1" i="0">
                <a:solidFill>
                  <a:srgbClr val="020618"/>
                </a:solidFill>
              </a:rPr>
              <a:t>The paper uses non-embedding parameters because vocabulary embeddings distort small-model scaling.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C91E6-9CD2-4933-A426-682A958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5556C"/>
                </a:solidFill>
              </a:defRPr>
            </a:pPr>
            <a:r>
              <a:rPr sz="1200" b="0" i="0">
                <a:solidFill>
                  <a:srgbClr val="45556C"/>
                </a:solidFill>
              </a:rPr>
              <a:t>This matters for reproducibility: the exact tokenization and vocabulary affect constants such as N_c and D_c.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F273C-8085-478C-9759-489DA45A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3/9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F8D80-1AFC-46CD-9454-ACAA8E9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388625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56316-DB59-4EC5-AAB0-843B61B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90E3B-E78D-4405-9FE8-3C9A600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Three basic laws: parameters, data, compute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C4CEE-084F-48F7-BD2E-33EFED5C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50F9A-C215-4708-9397-3E025E1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8D398-D8B9-4EF5-8020-B69E083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48DD7-481C-42BA-B4B3-09142D4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MODEL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91A1E-A93D-4871-B43E-997744A4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84D1"/>
                </a:solidFill>
              </a:defRPr>
            </a:pPr>
            <a:r>
              <a:rPr sz="2100" b="1" i="0">
                <a:solidFill>
                  <a:srgbClr val="0084D1"/>
                </a:solidFill>
              </a:rPr>
              <a:t>alpha_N = 0.076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6D4A2-1A95-454A-87A8-391E344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L(N) = (N_c / N)^alpha_N. Doubling parameters gives a small but predictable loss decrease.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BDB8-9946-458F-ABAA-6B50AAF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A12C6-D825-4BA3-85F7-9B4980D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B57B1-8927-49A2-BCF7-CB2B73FE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DATASET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0D0C5-3E40-40BD-87A6-22824AAC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9966"/>
                </a:solidFill>
              </a:defRPr>
            </a:pPr>
            <a:r>
              <a:rPr sz="2100" b="1" i="0">
                <a:solidFill>
                  <a:srgbClr val="009966"/>
                </a:solidFill>
              </a:rPr>
              <a:t>alpha_D = 0.095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949F9-57E2-4247-B4A1-0A07D3C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L(D) = (D_c / D)^alpha_D. More unique tokens reduce loss, also with diminishing returns.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49639-BD69-459F-AA8B-7967D030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96252-F838-4A46-A0D9-1CFE6E1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6B19D-8411-4D76-93A8-4B1B3811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OPTIMIZED COMPUTE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BC18D-B4EC-4CD8-984C-D440A73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EC003F"/>
                </a:solidFill>
              </a:defRPr>
            </a:pPr>
            <a:r>
              <a:rPr sz="2100" b="1" i="0">
                <a:solidFill>
                  <a:srgbClr val="EC003F"/>
                </a:solidFill>
              </a:rPr>
              <a:t>alpha_Cmin = 0.050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73835-151E-43EE-BE26-2D89AD1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L(Cmin) = (C_cmin / Cmin)^alpha_Cmin. Compute scaling is slower because compute must be split across variables.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371600" y="3810000"/>
          <a:ext xmlns:a="http://schemas.openxmlformats.org/drawingml/2006/main" cx="93345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795c70e7a4511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F6A9A-565B-4172-B9C9-B547323B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4/9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C4140-CFF6-4957-9ECE-6E92141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769516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B7AEA-957B-4459-AC56-DF7869EA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46E47-C429-4FE0-BC3E-BA33D48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Joint model-data law: finite data becomes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C66B2-164D-4C07-A18E-83F9AC0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0D5A2-91D5-4581-9C67-BD5C7DE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676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5049-0F48-4B72-AC2C-6DEA8232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84D1"/>
                </a:solidFill>
              </a:defRPr>
            </a:pPr>
            <a:r>
              <a:rPr sz="1575" b="1" i="0">
                <a:solidFill>
                  <a:srgbClr val="0084D1"/>
                </a:solidFill>
              </a:rPr>
              <a:t>L(N,D) = [ (N_c/N)^(alpha_N/alpha_D) + (D_c/D) ]^alpha_D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28EF-50DC-4215-94B9-3F505A67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676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D421E-8ED5-4BD8-A4A9-14B7729F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EC003F"/>
                </a:solidFill>
              </a:defRPr>
            </a:pPr>
            <a:r>
              <a:rPr sz="1575" b="1" i="0">
                <a:solidFill>
                  <a:srgbClr val="EC003F"/>
                </a:solidFill>
              </a:rPr>
              <a:t>Avoiding overfitting: D &gt;= 5e3 * N^0.74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FE3EF-B376-48BC-ADB7-467FE438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48E"/>
                </a:solidFill>
              </a:defRPr>
            </a:pPr>
            <a:r>
              <a:rPr sz="1050" b="1" i="0">
                <a:solidFill>
                  <a:srgbClr val="62748E"/>
                </a:solidFill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FDEBD-81C7-4453-9692-FA58AD3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4744-2466-4F23-8730-4BD1901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20618"/>
                </a:solidFill>
              </a:defRPr>
            </a:pPr>
            <a:r>
              <a:rPr sz="1275" b="0" i="0">
                <a:solidFill>
                  <a:srgbClr val="020618"/>
                </a:solidFill>
              </a:rPr>
              <a:t>The formula separates finite-model and finite-data bottlenecks.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F6239-451F-453E-BD1A-B3C2342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20C88-9F1B-4C23-B04F-001483E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20618"/>
                </a:solidFill>
              </a:defRPr>
            </a:pPr>
            <a:r>
              <a:rPr sz="1275" b="0" i="0">
                <a:solidFill>
                  <a:srgbClr val="020618"/>
                </a:solidFill>
              </a:rPr>
              <a:t>Data needs grow sublinearly with model size in this setup.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17EF4-ECF3-41A7-96A0-4505CE3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009900" cy="32194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0A1CC-572E-485E-AAD8-269F2B0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8"/>
                </a:solidFill>
              </a:defRPr>
            </a:pPr>
            <a:r>
              <a:rPr sz="1350" b="1" i="0">
                <a:solidFill>
                  <a:srgbClr val="020618"/>
                </a:solidFill>
              </a:rPr>
              <a:t>Data-quality translation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B9FD3-1994-4B23-8626-0E048D5E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209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5556C"/>
                </a:solidFill>
              </a:defRPr>
            </a:pPr>
            <a:r>
              <a:rPr sz="1350" b="0" i="0">
                <a:solidFill>
                  <a:srgbClr val="45556C"/>
                </a:solidFill>
              </a:rPr>
              <a:t>Token count is only the first proxy. Deduplication, domain coverage, and information density change how many tokens are effectively new.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70BBF-0180-4C1C-B23C-9F18A0ED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C003F"/>
                </a:solidFill>
              </a:defRPr>
            </a:pPr>
            <a:r>
              <a:rPr sz="1350" b="1" i="0">
                <a:solidFill>
                  <a:srgbClr val="EC003F"/>
                </a:solidFill>
              </a:rPr>
              <a:t>A good curation method should lower the loss at fixed N, D, and 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74584-B4D9-45ED-8404-E8F1A33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5/9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716DA-0BEE-4A41-B2A2-F45CFC46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199945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165AD-DEB3-4C41-AEED-336DA704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B0BC4-B66D-42A9-A554-A02EE7A3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Training dynamics: steps and critical batch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B6C75-C96E-448D-980C-83E7791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3FE29-4BF5-447D-B3EB-29C82CF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657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FF301-D292-4ACA-AEF5-4CBF817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9966"/>
                </a:solidFill>
              </a:defRPr>
            </a:pPr>
            <a:r>
              <a:rPr sz="1575" b="1" i="0">
                <a:solidFill>
                  <a:srgbClr val="009966"/>
                </a:solidFill>
              </a:rPr>
              <a:t>L(N,Smin) = (N_c/N)^alpha_N + (S_c/Smin)^alpha_S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0B2F3-2308-4072-9A6C-FB13B16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B4797-76DC-4937-848B-45361FF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084D1"/>
                </a:solidFill>
              </a:defRPr>
            </a:pPr>
            <a:r>
              <a:rPr sz="1575" b="1" i="0">
                <a:solidFill>
                  <a:srgbClr val="0084D1"/>
                </a:solidFill>
              </a:rPr>
              <a:t>Bcrit(L) = B* / L^(1/alpha_B)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A792E-C746-414E-8A29-74B19151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C67F5-BF2C-4201-AA9D-E230ABA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84C16-7E97-4ED0-9663-088C0B5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ALPHA_S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616CC-362F-4A1D-AF46-D06C37EB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9966"/>
                </a:solidFill>
              </a:defRPr>
            </a:pPr>
            <a:r>
              <a:rPr sz="2100" b="1" i="0">
                <a:solidFill>
                  <a:srgbClr val="009966"/>
                </a:solidFill>
              </a:rPr>
              <a:t>0.76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0771-4C14-4792-8753-AAC0293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Training-step bottlenecks are much steeper than parameter or dataset exponents.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0952A-17BD-48C1-B778-6C6D792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B9C8D-B727-4C7E-A02E-309763A5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20E0F-F4CD-422F-9FB8-638D9DC0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ALPHA_B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E6523-1D7D-4745-9BF9-AD233898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84D1"/>
                </a:solidFill>
              </a:defRPr>
            </a:pPr>
            <a:r>
              <a:rPr sz="2100" b="1" i="0">
                <a:solidFill>
                  <a:srgbClr val="0084D1"/>
                </a:solidFill>
              </a:rPr>
              <a:t>0.21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475D4-EF08-4E91-BE1F-5C3B3A3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Critical batch size grows as the model reaches lower loss.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51357-F62C-48C8-833A-132B6D0D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A609A-1891-4EBA-9C47-0A4ADFF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This correction matters because runs trained at different batch sizes are not directly comparable.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CA17F-C1B4-455D-ADC7-221D3F57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48CB9-70DA-4619-B490-909B3A80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It supports the paper's claim that large models trained short can be more compute-efficient than small models trained to convergence.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35184-767C-4AAA-9FB9-9946D017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6/9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BDE1D-4512-45FA-8B5B-A5ED5AB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62369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69D8C-87B9-43F4-B587-8121B4C5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37D1F-7557-4E01-802D-6FA61ADE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Compute-efficient allocation: what grows when compute grows?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22CC5-0115-4339-B339-D39A907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90600" y="14668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13e422cdb64c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BF20A-9F9E-4658-BAAD-68DA364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781300" cy="2895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DCCCF-43A2-4499-B05C-AC41B46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8"/>
                </a:solidFill>
              </a:defRPr>
            </a:pPr>
            <a:r>
              <a:rPr sz="1350" b="1" i="0">
                <a:solidFill>
                  <a:srgbClr val="020618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D0084-7800-47AA-BA4D-B36EB741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2038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5556C"/>
                </a:solidFill>
              </a:defRPr>
            </a:pPr>
            <a:r>
              <a:rPr sz="1500" b="0" i="0">
                <a:solidFill>
                  <a:srgbClr val="45556C"/>
                </a:solidFill>
              </a:rPr>
              <a:t>When compute increases by 10x, the model should grow by about 5x, while minimum serial steps barely increase.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A4699-DCDD-419C-B5C3-AF21C2A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C003F"/>
                </a:solidFill>
              </a:defRPr>
            </a:pPr>
            <a:r>
              <a:rPr sz="1350" b="1" i="0">
                <a:solidFill>
                  <a:srgbClr val="EC003F"/>
                </a:solidFill>
              </a:rPr>
              <a:t>This is the paper's clearest operational recipe.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6AC6D-179E-47C6-8812-38614B11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7/9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453F1-C725-4D15-B716-6B7996A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819851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0900B-65B6-4C38-9A01-9D4894B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AB1BC-448E-4D3A-8834-4E1C696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What does this mean for data quality research?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45A1F-2C84-48CD-906D-7D305E44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217B6-363B-40BF-AB3F-5D2A292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3143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CC154-AD03-4461-B4B8-39312EF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E4340-2036-46AB-8DCC-55DC544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METRIC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0073C-6438-49B9-991D-9DDCDB2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84D1"/>
                </a:solidFill>
              </a:defRPr>
            </a:pPr>
            <a:r>
              <a:rPr sz="2100" b="1" i="0">
                <a:solidFill>
                  <a:srgbClr val="0084D1"/>
                </a:solidFill>
              </a:rPr>
              <a:t>loss frontier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D8455-E606-4FC5-8180-3B03DBC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Ask whether a filter or selector beats the expected loss at fixed N, D, and 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6D35E-A1AB-4FB3-B8B0-919E0D3B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47800"/>
            <a:ext cx="3143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A1590-F601-4DDF-802F-027D6E86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47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1D1DA-C42F-4A95-9B30-DEDEEA9E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192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DATA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3056-D389-4AB1-8713-02FCB22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09966"/>
                </a:solidFill>
              </a:defRPr>
            </a:pPr>
            <a:r>
              <a:rPr sz="2100" b="1" i="0">
                <a:solidFill>
                  <a:srgbClr val="009966"/>
                </a:solidFill>
              </a:rPr>
              <a:t>effective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90381-6826-4725-8BCD-718A095A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24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Replace raw token count with uniqueness, domain coverage, and knowledge density where possible.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6C102-2573-471A-933E-5F1C18A3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3143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1AAD2-5E7C-4464-9746-17DCE7C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D6205-9EAE-40CF-B1C7-1F6E8E7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48E"/>
                </a:solidFill>
              </a:defRPr>
            </a:pPr>
            <a:r>
              <a:rPr sz="825" b="1" i="0">
                <a:solidFill>
                  <a:srgbClr val="62748E"/>
                </a:solidFill>
              </a:rPr>
              <a:t>RISK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F7F56-9084-4C6D-8664-C0338619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EC003F"/>
                </a:solidFill>
              </a:defRPr>
            </a:pPr>
            <a:r>
              <a:rPr sz="2100" b="1" i="0">
                <a:solidFill>
                  <a:srgbClr val="EC003F"/>
                </a:solidFill>
              </a:rPr>
              <a:t>missing qualities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B122F-74BC-41A9-99A3-0020575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5556C"/>
                </a:solidFill>
              </a:defRPr>
            </a:pPr>
            <a:r>
              <a:rPr sz="1125" b="0" i="0">
                <a:solidFill>
                  <a:srgbClr val="45556C"/>
                </a:solidFill>
              </a:rPr>
              <a:t>Cross-entropy does not measure toxicity, factuality, privacy, bias, or contamination.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8D5E6-F43A-4D11-8A49-362176D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FCF09-BAD0-43F8-9791-F7AA49F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20618"/>
                </a:solidFill>
              </a:defRPr>
            </a:pPr>
            <a:r>
              <a:rPr sz="1425" b="0" i="0">
                <a:solidFill>
                  <a:srgbClr val="020618"/>
                </a:solidFill>
              </a:rPr>
              <a:t>Use scaling laws as the null hypothesis for pretraining data interventions.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774BD-F7D6-4F8E-89EA-3B7C3D4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13E6C-FF93-481B-A515-805CE1E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20618"/>
                </a:solidFill>
              </a:defRPr>
            </a:pPr>
            <a:r>
              <a:rPr sz="1425" b="0" i="0">
                <a:solidFill>
                  <a:srgbClr val="020618"/>
                </a:solidFill>
              </a:rPr>
              <a:t>Report whether a data method changes the exponent, shifts the intercept, or only changes downstream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2303B-4601-4515-A6F1-D6B261CF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8D9D7-8810-4CC8-B635-B9E65EA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20618"/>
                </a:solidFill>
              </a:defRPr>
            </a:pPr>
            <a:r>
              <a:rPr sz="1425" b="0" i="0">
                <a:solidFill>
                  <a:srgbClr val="020618"/>
                </a:solidFill>
              </a:rPr>
              <a:t>Pair loss with quality metrics: toxicity detection and repair, semantic consistency, knowledge density, deduplication, and contamination checks.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1D6D9-83FD-4EC4-9B2B-C6D2F92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8/9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2C1C3-F085-46B5-9A5B-28FA30D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703780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82CE5-56A2-413A-906D-4E7FECC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084D1"/>
                </a:solidFill>
              </a:defRPr>
            </a:pPr>
            <a:r>
              <a:rPr sz="825" b="1" i="0">
                <a:solidFill>
                  <a:srgbClr val="0084D1"/>
                </a:solidFill>
              </a:rPr>
              <a:t>KAPLAN ET AL., 2020 | ARXIV:2001.08361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2C9B-3E30-4173-A0DC-638462C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20618"/>
                </a:solidFill>
              </a:defRPr>
            </a:pPr>
            <a:r>
              <a:rPr sz="2400" b="1" i="0">
                <a:solidFill>
                  <a:srgbClr val="020618"/>
                </a:solidFill>
              </a:rPr>
              <a:t>Limitations and follow-up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641C2-C6A6-46DB-A788-6760761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BDAC9-3C65-4A6D-BE4D-4BDF244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8773-9CF9-485F-981F-D58E5924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Exact reproduction is limited: WebText2, run logs, checkpoints, and official code are not released.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3F90-3AD0-4343-8027-621834AB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F8A6-7FF9-47FD-9493-554387A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Largest empirical models are much smaller than modern frontier models, so far-scale conclusions are extrapolations.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7943D-6D9C-4E92-8D69-696CBEF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B1529-ECC8-40B1-9415-20D3FD6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The paper does not audit data provenance, toxicity, benchmark leakage, multilingual coverage, or factual density.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04247-5CB9-4E2B-A4F1-DCC11F5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6846D-7FF1-4704-97B2-BEAC881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20618"/>
                </a:solidFill>
              </a:defRPr>
            </a:pPr>
            <a:r>
              <a:rPr sz="1350" b="0" i="0">
                <a:solidFill>
                  <a:srgbClr val="020618"/>
                </a:solidFill>
              </a:rPr>
              <a:t>Run a modern study where curated, random, deduplicated, and domain-balanced corpora are compared at fixed N, D, and 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57491-0822-44EE-957D-FC8313A5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14850"/>
            <a:ext cx="8039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6FA9D-7225-4978-A320-E974921C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2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2748E"/>
                </a:solidFill>
              </a:defRPr>
            </a:pPr>
            <a:r>
              <a:rPr sz="975" b="1" i="0">
                <a:solidFill>
                  <a:srgbClr val="62748E"/>
                </a:solidFill>
              </a:rPr>
              <a:t>Recommended repository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07C45-45BC-450F-9024-4FA82936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101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8"/>
                </a:solidFill>
              </a:defRPr>
            </a:pPr>
            <a:r>
              <a:rPr sz="1425" b="1" i="0">
                <a:solidFill>
                  <a:srgbClr val="020618"/>
                </a:solidFill>
              </a:rPr>
              <a:t>For every future paper note, record whether the work changes token quantity, effective token quality, selection policy, or evaluation reliability.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C01B8-E8BD-48CE-AFA6-4011D26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Scaling Laws for Neural Language Models | 9/9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FF600-ECC6-4C2F-9D97-50CD2D6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38900"/>
            <a:ext cx="3676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48E"/>
                </a:solidFill>
              </a:defRPr>
            </a:pPr>
            <a:r>
              <a:rPr sz="750" b="0" i="0">
                <a:solidFill>
                  <a:srgbClr val="62748E"/>
                </a:solidFill>
              </a:rPr>
              <a:t>Source: Kaplan et al. (2020), arXiv:2001.08361</a:t>
            </a:r>
          </a:p>
        </p:txBody>
      </p:sp>
    </p:spTree>
    <p:extLst>
      <p:ext uri="{BB962C8B-B14F-4D97-AF65-F5344CB8AC3E}">
        <p14:creationId xmlns:p14="http://schemas.microsoft.com/office/powerpoint/2010/main" val="168958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2026-07-15T08:46:17.5120000Z</dcterms:created>
  <dcterms:modified xsi:type="dcterms:W3CDTF">2026-07-15T08:46:17.5120000Z</dcterms:modified>
</coreProperties>
</file>